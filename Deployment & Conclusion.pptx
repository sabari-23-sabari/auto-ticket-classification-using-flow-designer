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7559999" cy="10692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258570" y="703580"/>
            <a:ext cx="5041900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92" b="1" sz="1800">
                <a:solidFill>
                  <a:srgbClr val="000000"/>
                </a:solidFill>
                <a:latin typeface="Roboto"/>
              </a:rPr>
              <a:t>AUTO TICKET CLASSIFICATION USING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182620" y="995680"/>
            <a:ext cx="1193800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24" b="1" sz="1800">
                <a:solidFill>
                  <a:srgbClr val="000000"/>
                </a:solidFill>
                <a:latin typeface="Roboto"/>
              </a:rPr>
              <a:t>DESIGNER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23900" y="1428750"/>
            <a:ext cx="3290570" cy="1778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54" b="1" sz="1400">
                <a:solidFill>
                  <a:srgbClr val="000000"/>
                </a:solidFill>
                <a:latin typeface="Roboto"/>
              </a:rPr>
              <a:t>Milestone 5: Deployment &amp; 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3900" y="1734820"/>
            <a:ext cx="2934970" cy="13461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42" b="1" sz="1050">
                <a:solidFill>
                  <a:srgbClr val="000000"/>
                </a:solidFill>
                <a:latin typeface="Roboto"/>
              </a:rPr>
              <a:t>Project Type:</a:t>
            </a:r>
            <a:r>
              <a:rPr spc="6" sz="1050">
                <a:solidFill>
                  <a:srgbClr val="000000"/>
                </a:solidFill>
                <a:latin typeface="Roboto"/>
              </a:rPr>
              <a:t> ServiceNow Flow Designer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3900" y="2001520"/>
            <a:ext cx="5951220" cy="13461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49" b="1" sz="1050">
                <a:solidFill>
                  <a:srgbClr val="000000"/>
                </a:solidFill>
                <a:latin typeface="Roboto"/>
              </a:rPr>
              <a:t>Objective:</a:t>
            </a:r>
            <a:r>
              <a:rPr spc="-5" sz="1050">
                <a:solidFill>
                  <a:srgbClr val="000000"/>
                </a:solidFill>
                <a:latin typeface="Roboto"/>
              </a:rPr>
              <a:t> Automatically classify incoming tickets using Flow Designer and update the ticket with the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3900" y="2192020"/>
            <a:ext cx="5937250" cy="1333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3" sz="1050">
                <a:solidFill>
                  <a:srgbClr val="000000"/>
                </a:solidFill>
                <a:latin typeface="Roboto"/>
              </a:rPr>
              <a:t>appropriate classification, while maintaining a controlled deployment process through an Update Set.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3900" y="2520950"/>
            <a:ext cx="1808480" cy="1778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47" b="1" sz="1400">
                <a:solidFill>
                  <a:srgbClr val="000000"/>
                </a:solidFill>
                <a:latin typeface="Roboto"/>
              </a:rPr>
              <a:t>Milestone 5 Overview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3900" y="2827020"/>
            <a:ext cx="5603240" cy="1333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4" sz="1050">
                <a:solidFill>
                  <a:srgbClr val="000000"/>
                </a:solidFill>
                <a:latin typeface="Roboto"/>
              </a:rPr>
              <a:t>In this milestone, the completed Auto Ticket Classification flow is prepared for deployment. The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3900" y="3017520"/>
            <a:ext cx="5604510" cy="1333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0" sz="1050">
                <a:solidFill>
                  <a:srgbClr val="000000"/>
                </a:solidFill>
                <a:latin typeface="Roboto"/>
              </a:rPr>
              <a:t>configuration is captured in an Update Set, the Update Set is completed, the flow is tested after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3900" y="3208020"/>
            <a:ext cx="4580890" cy="1333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5" sz="1050">
                <a:solidFill>
                  <a:srgbClr val="000000"/>
                </a:solidFill>
                <a:latin typeface="Roboto"/>
              </a:rPr>
              <a:t>deployment, and the project is concluded with verification and documentation.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3900" y="3536950"/>
            <a:ext cx="5275580" cy="1778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45" b="1" sz="1400">
                <a:solidFill>
                  <a:srgbClr val="000000"/>
                </a:solidFill>
                <a:latin typeface="Roboto"/>
              </a:rPr>
              <a:t>Activity 1: Create an Update Set and Move it to Complete State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5500" y="3843020"/>
            <a:ext cx="5440680" cy="13461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40" b="1" sz="1050">
                <a:solidFill>
                  <a:srgbClr val="000000"/>
                </a:solidFill>
                <a:latin typeface="Roboto"/>
              </a:rPr>
              <a:t>Step 1:</a:t>
            </a:r>
            <a:r>
              <a:rPr spc="-3" sz="1050">
                <a:solidFill>
                  <a:srgbClr val="000000"/>
                </a:solidFill>
                <a:latin typeface="Roboto"/>
              </a:rPr>
              <a:t> Log in to the ServiceNow instance with the required administrator/developer access.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5500" y="4109720"/>
            <a:ext cx="3741420" cy="13461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40" b="1" sz="1050">
                <a:solidFill>
                  <a:srgbClr val="000000"/>
                </a:solidFill>
                <a:latin typeface="Roboto"/>
              </a:rPr>
              <a:t>Step 2:</a:t>
            </a:r>
            <a:r>
              <a:rPr spc="7" sz="1050">
                <a:solidFill>
                  <a:srgbClr val="000000"/>
                </a:solidFill>
                <a:latin typeface="Roboto"/>
              </a:rPr>
              <a:t> Navigate to System Update Sets </a:t>
            </a:r>
            <a:r>
              <a:rPr spc="-11" sz="1050">
                <a:solidFill>
                  <a:srgbClr val="000000"/>
                </a:solidFill>
                <a:latin typeface="Noto Sans Symbols"/>
              </a:rPr>
              <a:t>→</a:t>
            </a:r>
            <a:r>
              <a:rPr spc="8" sz="1050">
                <a:solidFill>
                  <a:srgbClr val="000000"/>
                </a:solidFill>
                <a:latin typeface="Roboto"/>
              </a:rPr>
              <a:t> Local Update Sets.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5500" y="4376420"/>
            <a:ext cx="5655310" cy="13461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40" b="1" sz="1050">
                <a:solidFill>
                  <a:srgbClr val="000000"/>
                </a:solidFill>
                <a:latin typeface="Roboto"/>
              </a:rPr>
              <a:t>Step 3:</a:t>
            </a:r>
            <a:r>
              <a:rPr spc="9" sz="1050">
                <a:solidFill>
                  <a:srgbClr val="000000"/>
                </a:solidFill>
                <a:latin typeface="Roboto"/>
              </a:rPr>
              <a:t> Click New and create an Update Set named </a:t>
            </a:r>
            <a:r>
              <a:rPr spc="27" b="1" sz="1050">
                <a:solidFill>
                  <a:srgbClr val="000000"/>
                </a:solidFill>
                <a:latin typeface="Roboto"/>
              </a:rPr>
              <a:t>Auto Ticket Classification – Milestone 5</a:t>
            </a:r>
            <a:r>
              <a:rPr spc="23" sz="1050">
                <a:solidFill>
                  <a:srgbClr val="000000"/>
                </a:solidFill>
                <a:latin typeface="Roboto"/>
              </a:rPr>
              <a:t>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5500" y="4643120"/>
            <a:ext cx="5788659" cy="13461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40" b="1" sz="1050">
                <a:solidFill>
                  <a:srgbClr val="000000"/>
                </a:solidFill>
                <a:latin typeface="Roboto"/>
              </a:rPr>
              <a:t>Step 4:</a:t>
            </a:r>
            <a:r>
              <a:rPr spc="2" sz="1050">
                <a:solidFill>
                  <a:srgbClr val="000000"/>
                </a:solidFill>
                <a:latin typeface="Roboto"/>
              </a:rPr>
              <a:t> Enter a short description such as: </a:t>
            </a:r>
            <a:r>
              <a:rPr spc="-4" i="1" sz="1050">
                <a:solidFill>
                  <a:srgbClr val="000000"/>
                </a:solidFill>
                <a:latin typeface="Roboto"/>
              </a:rPr>
              <a:t>Deployment package for Auto Ticket Classification Flow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5500" y="4833620"/>
            <a:ext cx="1008380" cy="1333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" i="1" sz="1050">
                <a:solidFill>
                  <a:srgbClr val="000000"/>
                </a:solidFill>
                <a:latin typeface="Roboto"/>
              </a:rPr>
              <a:t>Designer project.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5500" y="5100320"/>
            <a:ext cx="5966459" cy="13461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40" b="1" sz="1050">
                <a:solidFill>
                  <a:srgbClr val="000000"/>
                </a:solidFill>
                <a:latin typeface="Roboto"/>
              </a:rPr>
              <a:t>Step 5:</a:t>
            </a:r>
            <a:r>
              <a:rPr spc="3" sz="1050">
                <a:solidFill>
                  <a:srgbClr val="000000"/>
                </a:solidFill>
                <a:latin typeface="Roboto"/>
              </a:rPr>
              <a:t> Set the Update Set as the current Update Set before making or capturing deployment-related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5500" y="5290820"/>
            <a:ext cx="541019" cy="1333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" sz="1050">
                <a:solidFill>
                  <a:srgbClr val="000000"/>
                </a:solidFill>
                <a:latin typeface="Roboto"/>
              </a:rPr>
              <a:t>changes.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5500" y="5557520"/>
            <a:ext cx="5454650" cy="13461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40" b="1" sz="1050">
                <a:solidFill>
                  <a:srgbClr val="000000"/>
                </a:solidFill>
                <a:latin typeface="Roboto"/>
              </a:rPr>
              <a:t>Step 6:</a:t>
            </a:r>
            <a:r>
              <a:rPr spc="0" sz="1050">
                <a:solidFill>
                  <a:srgbClr val="000000"/>
                </a:solidFill>
                <a:latin typeface="Roboto"/>
              </a:rPr>
              <a:t> Verify that the Flow Designer flow, actions, subflows, business rules, or other project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5500" y="5748020"/>
            <a:ext cx="4136390" cy="1333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2" sz="1050">
                <a:solidFill>
                  <a:srgbClr val="000000"/>
                </a:solidFill>
                <a:latin typeface="Roboto"/>
              </a:rPr>
              <a:t>configuration that must be transported are captured in the Update Set.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5500" y="6014720"/>
            <a:ext cx="4936490" cy="13461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40" b="1" sz="1050">
                <a:solidFill>
                  <a:srgbClr val="000000"/>
                </a:solidFill>
                <a:latin typeface="Roboto"/>
              </a:rPr>
              <a:t>Step 7:</a:t>
            </a:r>
            <a:r>
              <a:rPr spc="5" sz="1050">
                <a:solidFill>
                  <a:srgbClr val="000000"/>
                </a:solidFill>
                <a:latin typeface="Roboto"/>
              </a:rPr>
              <a:t> Open the Update Set and review the Customer Updates / captured records.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5500" y="6281420"/>
            <a:ext cx="5929630" cy="13461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40" b="1" sz="1050">
                <a:solidFill>
                  <a:srgbClr val="000000"/>
                </a:solidFill>
                <a:latin typeface="Roboto"/>
              </a:rPr>
              <a:t>Step 8:</a:t>
            </a:r>
            <a:r>
              <a:rPr spc="0" sz="1050">
                <a:solidFill>
                  <a:srgbClr val="000000"/>
                </a:solidFill>
                <a:latin typeface="Roboto"/>
              </a:rPr>
              <a:t> Check that the required project configuration is present and there are no unwanted changes.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5500" y="6548120"/>
            <a:ext cx="5906770" cy="1346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40" b="1" sz="1050">
                <a:solidFill>
                  <a:srgbClr val="000000"/>
                </a:solidFill>
                <a:latin typeface="Roboto"/>
              </a:rPr>
              <a:t>Step 9:</a:t>
            </a:r>
            <a:r>
              <a:rPr spc="2" sz="1050">
                <a:solidFill>
                  <a:srgbClr val="000000"/>
                </a:solidFill>
                <a:latin typeface="Roboto"/>
              </a:rPr>
              <a:t> When verification is complete, change the Update Set State from </a:t>
            </a:r>
            <a:r>
              <a:rPr spc="41" b="1" sz="1050">
                <a:solidFill>
                  <a:srgbClr val="000000"/>
                </a:solidFill>
                <a:latin typeface="Roboto"/>
              </a:rPr>
              <a:t>In Progress</a:t>
            </a:r>
            <a:r>
              <a:rPr spc="-1" sz="1050">
                <a:solidFill>
                  <a:srgbClr val="000000"/>
                </a:solidFill>
                <a:latin typeface="Roboto"/>
              </a:rPr>
              <a:t> to </a:t>
            </a:r>
            <a:r>
              <a:rPr spc="34" b="1" sz="1050">
                <a:solidFill>
                  <a:srgbClr val="000000"/>
                </a:solidFill>
                <a:latin typeface="Roboto"/>
              </a:rPr>
              <a:t>Complete</a:t>
            </a:r>
            <a:r>
              <a:rPr spc="13" sz="1050">
                <a:solidFill>
                  <a:srgbClr val="000000"/>
                </a:solidFill>
                <a:latin typeface="Roboto"/>
              </a:rPr>
              <a:t>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5500" y="6814820"/>
            <a:ext cx="4491990" cy="1346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35" b="1" sz="1050">
                <a:solidFill>
                  <a:srgbClr val="000000"/>
                </a:solidFill>
                <a:latin typeface="Roboto"/>
              </a:rPr>
              <a:t>Step 10:</a:t>
            </a:r>
            <a:r>
              <a:rPr spc="3" sz="1050">
                <a:solidFill>
                  <a:srgbClr val="000000"/>
                </a:solidFill>
                <a:latin typeface="Roboto"/>
              </a:rPr>
              <a:t> Record the Update Set name and number for deployment tracking.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3900" y="7143750"/>
            <a:ext cx="2697479" cy="1778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48" b="1" sz="1400">
                <a:solidFill>
                  <a:srgbClr val="000000"/>
                </a:solidFill>
                <a:latin typeface="Roboto"/>
              </a:rPr>
              <a:t>Action 1: Final Flow Verification</a:t>
            </a:r>
          </a:p>
        </p:txBody>
      </p:sp>
      <p:graphicFrame>
        <p:nvGraphicFramePr>
          <p:cNvPr id="27" name="Table 26"/>
          <p:cNvGraphicFramePr>
            <a:graphicFrameLocks noGrp="1"/>
          </p:cNvGraphicFramePr>
          <p:nvPr/>
        </p:nvGraphicFramePr>
        <p:xfrm>
          <a:off x="810260" y="7421880"/>
          <a:ext cx="5939789" cy="15875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979929"/>
                <a:gridCol w="3959860"/>
              </a:tblGrid>
              <a:tr h="317500">
                <a:tc>
                  <a:txBody>
                    <a:bodyPr/>
                    <a:lstStyle/>
                    <a:p>
                      <a:pPr>
                        <a:lnSpc>
                          <a:spcPts val="790"/>
                        </a:lnSpc>
                      </a:pPr>
                    </a:p>
                    <a:p>
                      <a:pPr marL="72390" algn="l">
                        <a:lnSpc>
                          <a:spcPts val="950"/>
                        </a:lnSpc>
                      </a:pPr>
                      <a:r>
                        <a:rPr spc="45" b="1" sz="950">
                          <a:solidFill>
                            <a:srgbClr val="000000"/>
                          </a:solidFill>
                          <a:latin typeface="Roboto"/>
                        </a:rPr>
                        <a:t>Check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808080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808080">
                          <a:alpha val="100000"/>
                        </a:srgbClr>
                      </a:solidFill>
                    </a:lnR>
                    <a:lnT w="3175" cap="flat" cmpd="sng" algn="ctr">
                      <a:solidFill>
                        <a:srgbClr val="808080">
                          <a:alpha val="100000"/>
                        </a:srgbClr>
                      </a:solidFill>
                    </a:lnT>
                    <a:lnB w="3175" cap="flat" cmpd="sng" algn="ctr">
                      <a:solidFill>
                        <a:srgbClr val="808080">
                          <a:alpha val="100000"/>
                        </a:srgbClr>
                      </a:solidFill>
                    </a:lnB>
                    <a:solidFill>
                      <a:srgbClr val="d3d3d3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790"/>
                        </a:lnSpc>
                      </a:pPr>
                    </a:p>
                    <a:p>
                      <a:pPr marL="73660" algn="l">
                        <a:lnSpc>
                          <a:spcPts val="950"/>
                        </a:lnSpc>
                      </a:pPr>
                      <a:r>
                        <a:rPr spc="40" b="1" sz="950">
                          <a:solidFill>
                            <a:srgbClr val="000000"/>
                          </a:solidFill>
                          <a:latin typeface="Roboto"/>
                        </a:rPr>
                        <a:t>Expected Result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808080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808080">
                          <a:alpha val="100000"/>
                        </a:srgbClr>
                      </a:solidFill>
                    </a:lnR>
                    <a:lnT w="3175" cap="flat" cmpd="sng" algn="ctr">
                      <a:solidFill>
                        <a:srgbClr val="808080">
                          <a:alpha val="100000"/>
                        </a:srgbClr>
                      </a:solidFill>
                    </a:lnT>
                    <a:lnB w="3175" cap="flat" cmpd="sng" algn="ctr">
                      <a:solidFill>
                        <a:srgbClr val="808080">
                          <a:alpha val="100000"/>
                        </a:srgbClr>
                      </a:solidFill>
                    </a:lnB>
                    <a:solidFill>
                      <a:srgbClr val="d3d3d3">
                        <a:alpha val="100000"/>
                      </a:srgbClr>
                    </a:solidFill>
                  </a:tcPr>
                </a:tc>
              </a:tr>
              <a:tr h="317500">
                <a:tc>
                  <a:txBody>
                    <a:bodyPr/>
                    <a:lstStyle/>
                    <a:p>
                      <a:pPr>
                        <a:lnSpc>
                          <a:spcPts val="780"/>
                        </a:lnSpc>
                      </a:pPr>
                    </a:p>
                    <a:p>
                      <a:pPr marL="72390" algn="l">
                        <a:lnSpc>
                          <a:spcPts val="950"/>
                        </a:lnSpc>
                      </a:pPr>
                      <a:r>
                        <a:rPr spc="-1" sz="950">
                          <a:solidFill>
                            <a:srgbClr val="000000"/>
                          </a:solidFill>
                          <a:latin typeface="Roboto"/>
                        </a:rPr>
                        <a:t>Trigger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808080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808080">
                          <a:alpha val="100000"/>
                        </a:srgbClr>
                      </a:solidFill>
                    </a:lnR>
                    <a:lnT w="3175" cap="flat" cmpd="sng" algn="ctr">
                      <a:solidFill>
                        <a:srgbClr val="808080">
                          <a:alpha val="100000"/>
                        </a:srgbClr>
                      </a:solidFill>
                    </a:lnT>
                    <a:lnB w="3175" cap="flat" cmpd="sng" algn="ctr">
                      <a:solidFill>
                        <a:srgbClr val="808080">
                          <a:alpha val="10000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780"/>
                        </a:lnSpc>
                      </a:pPr>
                    </a:p>
                    <a:p>
                      <a:pPr marL="73660" algn="l">
                        <a:lnSpc>
                          <a:spcPts val="950"/>
                        </a:lnSpc>
                      </a:pPr>
                      <a:r>
                        <a:rPr spc="-7" sz="950">
                          <a:solidFill>
                            <a:srgbClr val="000000"/>
                          </a:solidFill>
                          <a:latin typeface="Roboto"/>
                        </a:rPr>
                        <a:t>The flow starts when the configured ticket condition is met.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808080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808080">
                          <a:alpha val="100000"/>
                        </a:srgbClr>
                      </a:solidFill>
                    </a:lnR>
                    <a:lnT w="3175" cap="flat" cmpd="sng" algn="ctr">
                      <a:solidFill>
                        <a:srgbClr val="808080">
                          <a:alpha val="100000"/>
                        </a:srgbClr>
                      </a:solidFill>
                    </a:lnT>
                    <a:lnB w="3175" cap="flat" cmpd="sng" algn="ctr">
                      <a:solidFill>
                        <a:srgbClr val="808080">
                          <a:alpha val="100000"/>
                        </a:srgbClr>
                      </a:solidFill>
                    </a:lnB>
                    <a:noFill/>
                  </a:tcPr>
                </a:tc>
              </a:tr>
              <a:tr h="317500">
                <a:tc>
                  <a:txBody>
                    <a:bodyPr/>
                    <a:lstStyle/>
                    <a:p>
                      <a:pPr>
                        <a:lnSpc>
                          <a:spcPts val="780"/>
                        </a:lnSpc>
                      </a:pPr>
                    </a:p>
                    <a:p>
                      <a:pPr marL="72390" algn="l">
                        <a:lnSpc>
                          <a:spcPts val="950"/>
                        </a:lnSpc>
                      </a:pPr>
                      <a:r>
                        <a:rPr spc="-12" sz="950">
                          <a:solidFill>
                            <a:srgbClr val="000000"/>
                          </a:solidFill>
                          <a:latin typeface="Roboto"/>
                        </a:rPr>
                        <a:t>Classification logic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808080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808080">
                          <a:alpha val="100000"/>
                        </a:srgbClr>
                      </a:solidFill>
                    </a:lnR>
                    <a:lnT w="3175" cap="flat" cmpd="sng" algn="ctr">
                      <a:solidFill>
                        <a:srgbClr val="808080">
                          <a:alpha val="100000"/>
                        </a:srgbClr>
                      </a:solidFill>
                    </a:lnT>
                    <a:lnB w="3175" cap="flat" cmpd="sng" algn="ctr">
                      <a:solidFill>
                        <a:srgbClr val="808080">
                          <a:alpha val="10000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780"/>
                        </a:lnSpc>
                      </a:pPr>
                    </a:p>
                    <a:p>
                      <a:pPr marL="73660" algn="l">
                        <a:lnSpc>
                          <a:spcPts val="950"/>
                        </a:lnSpc>
                      </a:pPr>
                      <a:r>
                        <a:rPr spc="-9" sz="950">
                          <a:solidFill>
                            <a:srgbClr val="000000"/>
                          </a:solidFill>
                          <a:latin typeface="Roboto"/>
                        </a:rPr>
                        <a:t>The ticket is classified according to the configured conditions/rules.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808080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808080">
                          <a:alpha val="100000"/>
                        </a:srgbClr>
                      </a:solidFill>
                    </a:lnR>
                    <a:lnT w="3175" cap="flat" cmpd="sng" algn="ctr">
                      <a:solidFill>
                        <a:srgbClr val="808080">
                          <a:alpha val="100000"/>
                        </a:srgbClr>
                      </a:solidFill>
                    </a:lnT>
                    <a:lnB w="3175" cap="flat" cmpd="sng" algn="ctr">
                      <a:solidFill>
                        <a:srgbClr val="808080">
                          <a:alpha val="100000"/>
                        </a:srgbClr>
                      </a:solidFill>
                    </a:lnB>
                    <a:noFill/>
                  </a:tcPr>
                </a:tc>
              </a:tr>
              <a:tr h="317500">
                <a:tc>
                  <a:txBody>
                    <a:bodyPr/>
                    <a:lstStyle/>
                    <a:p>
                      <a:pPr>
                        <a:lnSpc>
                          <a:spcPts val="780"/>
                        </a:lnSpc>
                      </a:pPr>
                    </a:p>
                    <a:p>
                      <a:pPr marL="72390" algn="l">
                        <a:lnSpc>
                          <a:spcPts val="950"/>
                        </a:lnSpc>
                      </a:pPr>
                      <a:r>
                        <a:rPr spc="-4" sz="950">
                          <a:solidFill>
                            <a:srgbClr val="000000"/>
                          </a:solidFill>
                          <a:latin typeface="Roboto"/>
                        </a:rPr>
                        <a:t>Ticket update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808080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808080">
                          <a:alpha val="100000"/>
                        </a:srgbClr>
                      </a:solidFill>
                    </a:lnR>
                    <a:lnT w="3175" cap="flat" cmpd="sng" algn="ctr">
                      <a:solidFill>
                        <a:srgbClr val="808080">
                          <a:alpha val="100000"/>
                        </a:srgbClr>
                      </a:solidFill>
                    </a:lnT>
                    <a:lnB w="3175" cap="flat" cmpd="sng" algn="ctr">
                      <a:solidFill>
                        <a:srgbClr val="808080">
                          <a:alpha val="10000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780"/>
                        </a:lnSpc>
                      </a:pPr>
                    </a:p>
                    <a:p>
                      <a:pPr marL="73660" algn="l">
                        <a:lnSpc>
                          <a:spcPts val="950"/>
                        </a:lnSpc>
                      </a:pPr>
                      <a:r>
                        <a:rPr spc="-8" sz="950">
                          <a:solidFill>
                            <a:srgbClr val="000000"/>
                          </a:solidFill>
                          <a:latin typeface="Roboto"/>
                        </a:rPr>
                        <a:t>The correct classification/category fields are updated automatically.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808080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808080">
                          <a:alpha val="100000"/>
                        </a:srgbClr>
                      </a:solidFill>
                    </a:lnR>
                    <a:lnT w="3175" cap="flat" cmpd="sng" algn="ctr">
                      <a:solidFill>
                        <a:srgbClr val="808080">
                          <a:alpha val="100000"/>
                        </a:srgbClr>
                      </a:solidFill>
                    </a:lnT>
                    <a:lnB w="3175" cap="flat" cmpd="sng" algn="ctr">
                      <a:solidFill>
                        <a:srgbClr val="808080">
                          <a:alpha val="100000"/>
                        </a:srgbClr>
                      </a:solidFill>
                    </a:lnB>
                    <a:noFill/>
                  </a:tcPr>
                </a:tc>
              </a:tr>
              <a:tr h="317500">
                <a:tc>
                  <a:txBody>
                    <a:bodyPr/>
                    <a:lstStyle/>
                    <a:p>
                      <a:pPr>
                        <a:lnSpc>
                          <a:spcPts val="780"/>
                        </a:lnSpc>
                      </a:pPr>
                    </a:p>
                    <a:p>
                      <a:pPr marL="72390" algn="l">
                        <a:lnSpc>
                          <a:spcPts val="950"/>
                        </a:lnSpc>
                      </a:pPr>
                      <a:r>
                        <a:rPr spc="-2" sz="950">
                          <a:solidFill>
                            <a:srgbClr val="000000"/>
                          </a:solidFill>
                          <a:latin typeface="Roboto"/>
                        </a:rPr>
                        <a:t>Flow execution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808080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808080">
                          <a:alpha val="100000"/>
                        </a:srgbClr>
                      </a:solidFill>
                    </a:lnR>
                    <a:lnT w="3175" cap="flat" cmpd="sng" algn="ctr">
                      <a:solidFill>
                        <a:srgbClr val="808080">
                          <a:alpha val="100000"/>
                        </a:srgbClr>
                      </a:solidFill>
                    </a:lnT>
                    <a:lnB w="3175" cap="flat" cmpd="sng" algn="ctr">
                      <a:solidFill>
                        <a:srgbClr val="808080">
                          <a:alpha val="10000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780"/>
                        </a:lnSpc>
                      </a:pPr>
                    </a:p>
                    <a:p>
                      <a:pPr marL="73660" algn="l">
                        <a:lnSpc>
                          <a:spcPts val="950"/>
                        </a:lnSpc>
                      </a:pPr>
                      <a:r>
                        <a:rPr spc="-8" sz="950">
                          <a:solidFill>
                            <a:srgbClr val="000000"/>
                          </a:solidFill>
                          <a:latin typeface="Roboto"/>
                        </a:rPr>
                        <a:t>The flow completes without errors.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808080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808080">
                          <a:alpha val="100000"/>
                        </a:srgbClr>
                      </a:solidFill>
                    </a:lnR>
                    <a:lnT w="3175" cap="flat" cmpd="sng" algn="ctr">
                      <a:solidFill>
                        <a:srgbClr val="808080">
                          <a:alpha val="100000"/>
                        </a:srgbClr>
                      </a:solidFill>
                    </a:lnT>
                    <a:lnB w="3175" cap="flat" cmpd="sng" algn="ctr">
                      <a:solidFill>
                        <a:srgbClr val="808080">
                          <a:alpha val="100000"/>
                        </a:srgbClr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28" name="TextBox 27"/>
          <p:cNvSpPr txBox="1"/>
          <p:nvPr/>
        </p:nvSpPr>
        <p:spPr>
          <a:xfrm>
            <a:off x="723900" y="9175750"/>
            <a:ext cx="3803650" cy="1778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44" b="1" sz="1400">
                <a:solidFill>
                  <a:srgbClr val="000000"/>
                </a:solidFill>
                <a:latin typeface="Roboto"/>
              </a:rPr>
              <a:t>Action 2: Deployment / Update Set Validation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5500" y="9481820"/>
            <a:ext cx="3639820" cy="1346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40" b="1" sz="1050">
                <a:solidFill>
                  <a:srgbClr val="000000"/>
                </a:solidFill>
                <a:latin typeface="Roboto"/>
              </a:rPr>
              <a:t>Step 1:</a:t>
            </a:r>
            <a:r>
              <a:rPr spc="3" sz="1050">
                <a:solidFill>
                  <a:srgbClr val="000000"/>
                </a:solidFill>
                <a:latin typeface="Roboto"/>
              </a:rPr>
              <a:t> Confirm that the Update Set is in the </a:t>
            </a:r>
            <a:r>
              <a:rPr spc="35" b="1" sz="1050">
                <a:solidFill>
                  <a:srgbClr val="000000"/>
                </a:solidFill>
                <a:latin typeface="Roboto"/>
              </a:rPr>
              <a:t>Complete</a:t>
            </a:r>
            <a:r>
              <a:rPr spc="-5" sz="1050">
                <a:solidFill>
                  <a:srgbClr val="000000"/>
                </a:solidFill>
                <a:latin typeface="Roboto"/>
              </a:rPr>
              <a:t> state.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5500" y="9748520"/>
            <a:ext cx="5359400" cy="1346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40" b="1" sz="1050">
                <a:solidFill>
                  <a:srgbClr val="000000"/>
                </a:solidFill>
                <a:latin typeface="Roboto"/>
              </a:rPr>
              <a:t>Step 2:</a:t>
            </a:r>
            <a:r>
              <a:rPr spc="3" sz="1050">
                <a:solidFill>
                  <a:srgbClr val="000000"/>
                </a:solidFill>
                <a:latin typeface="Roboto"/>
              </a:rPr>
              <a:t> Review the captured records to ensure only required project changes are included.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5500" y="680720"/>
            <a:ext cx="5450840" cy="1346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40" b="1" sz="1050">
                <a:solidFill>
                  <a:srgbClr val="000000"/>
                </a:solidFill>
                <a:latin typeface="Roboto"/>
              </a:rPr>
              <a:t>Step 3:</a:t>
            </a:r>
            <a:r>
              <a:rPr spc="-3" sz="1050">
                <a:solidFill>
                  <a:srgbClr val="000000"/>
                </a:solidFill>
                <a:latin typeface="Roboto"/>
              </a:rPr>
              <a:t> Move/import the Update Set to the target instance using the organization's approved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5500" y="871219"/>
            <a:ext cx="1230630" cy="1333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4" sz="1050">
                <a:solidFill>
                  <a:srgbClr val="000000"/>
                </a:solidFill>
                <a:latin typeface="Roboto"/>
              </a:rPr>
              <a:t>deployment process.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5500" y="1137920"/>
            <a:ext cx="3898900" cy="1346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40" b="1" sz="1050">
                <a:solidFill>
                  <a:srgbClr val="000000"/>
                </a:solidFill>
                <a:latin typeface="Roboto"/>
              </a:rPr>
              <a:t>Step 4:</a:t>
            </a:r>
            <a:r>
              <a:rPr spc="-1" sz="1050">
                <a:solidFill>
                  <a:srgbClr val="000000"/>
                </a:solidFill>
                <a:latin typeface="Roboto"/>
              </a:rPr>
              <a:t> Preview the Update Set before committing it, if applicable.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5500" y="1404620"/>
            <a:ext cx="3905250" cy="1346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40" b="1" sz="1050">
                <a:solidFill>
                  <a:srgbClr val="000000"/>
                </a:solidFill>
                <a:latin typeface="Roboto"/>
              </a:rPr>
              <a:t>Step 5:</a:t>
            </a:r>
            <a:r>
              <a:rPr spc="-3" sz="1050">
                <a:solidFill>
                  <a:srgbClr val="000000"/>
                </a:solidFill>
                <a:latin typeface="Roboto"/>
              </a:rPr>
              <a:t> Resolve any preview errors or conflicts before committing.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5500" y="1671320"/>
            <a:ext cx="3468370" cy="13461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40" b="1" sz="1050">
                <a:solidFill>
                  <a:srgbClr val="000000"/>
                </a:solidFill>
                <a:latin typeface="Roboto"/>
              </a:rPr>
              <a:t>Step 6:</a:t>
            </a:r>
            <a:r>
              <a:rPr spc="-3" sz="1050">
                <a:solidFill>
                  <a:srgbClr val="000000"/>
                </a:solidFill>
                <a:latin typeface="Roboto"/>
              </a:rPr>
              <a:t> Commit the Update Set after successful validation.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5500" y="1938020"/>
            <a:ext cx="5759450" cy="13461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40" b="1" sz="1050">
                <a:solidFill>
                  <a:srgbClr val="000000"/>
                </a:solidFill>
                <a:latin typeface="Roboto"/>
              </a:rPr>
              <a:t>Step 7:</a:t>
            </a:r>
            <a:r>
              <a:rPr spc="-4" sz="1050">
                <a:solidFill>
                  <a:srgbClr val="000000"/>
                </a:solidFill>
                <a:latin typeface="Roboto"/>
              </a:rPr>
              <a:t> Verify that the Auto Ticket Classification flow is available and active in the target instance.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3900" y="2266950"/>
            <a:ext cx="2954020" cy="1778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52" b="1" sz="1400">
                <a:solidFill>
                  <a:srgbClr val="000000"/>
                </a:solidFill>
                <a:latin typeface="Roboto"/>
              </a:rPr>
              <a:t>Action 3: Post-Deployment Testing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5500" y="2573020"/>
            <a:ext cx="4499610" cy="13461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40" b="1" sz="1050">
                <a:solidFill>
                  <a:srgbClr val="000000"/>
                </a:solidFill>
                <a:latin typeface="Roboto"/>
              </a:rPr>
              <a:t>Step 1:</a:t>
            </a:r>
            <a:r>
              <a:rPr spc="-7" sz="1050">
                <a:solidFill>
                  <a:srgbClr val="000000"/>
                </a:solidFill>
                <a:latin typeface="Roboto"/>
              </a:rPr>
              <a:t> Create or select a test ticket that satisfies the flow trigger conditions.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500" y="2839720"/>
            <a:ext cx="3699510" cy="13461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40" b="1" sz="1050">
                <a:solidFill>
                  <a:srgbClr val="000000"/>
                </a:solidFill>
                <a:latin typeface="Roboto"/>
              </a:rPr>
              <a:t>Step 2:</a:t>
            </a:r>
            <a:r>
              <a:rPr spc="-6" sz="1050">
                <a:solidFill>
                  <a:srgbClr val="000000"/>
                </a:solidFill>
                <a:latin typeface="Roboto"/>
              </a:rPr>
              <a:t> Submit/update the ticket and allow the flow to execute.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5500" y="3106420"/>
            <a:ext cx="4484370" cy="13461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40" b="1" sz="1050">
                <a:solidFill>
                  <a:srgbClr val="000000"/>
                </a:solidFill>
                <a:latin typeface="Roboto"/>
              </a:rPr>
              <a:t>Step 3:</a:t>
            </a:r>
            <a:r>
              <a:rPr spc="-2" sz="1050">
                <a:solidFill>
                  <a:srgbClr val="000000"/>
                </a:solidFill>
                <a:latin typeface="Roboto"/>
              </a:rPr>
              <a:t> Open the ticket and verify that the expected classification is applied.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5500" y="3373120"/>
            <a:ext cx="4573270" cy="13461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40" b="1" sz="1050">
                <a:solidFill>
                  <a:srgbClr val="000000"/>
                </a:solidFill>
                <a:latin typeface="Roboto"/>
              </a:rPr>
              <a:t>Step 4:</a:t>
            </a:r>
            <a:r>
              <a:rPr spc="-2" sz="1050">
                <a:solidFill>
                  <a:srgbClr val="000000"/>
                </a:solidFill>
                <a:latin typeface="Roboto"/>
              </a:rPr>
              <a:t> Check the Flow Designer execution details for successful completion.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5500" y="3639820"/>
            <a:ext cx="5922009" cy="13461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40" b="1" sz="1050">
                <a:solidFill>
                  <a:srgbClr val="000000"/>
                </a:solidFill>
                <a:latin typeface="Roboto"/>
              </a:rPr>
              <a:t>Step 5:</a:t>
            </a:r>
            <a:r>
              <a:rPr spc="-9" sz="1050">
                <a:solidFill>
                  <a:srgbClr val="000000"/>
                </a:solidFill>
                <a:latin typeface="Roboto"/>
              </a:rPr>
              <a:t> Test at least one additional classification scenario to confirm that the logic works for different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5500" y="3830320"/>
            <a:ext cx="741680" cy="1333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2" sz="1050">
                <a:solidFill>
                  <a:srgbClr val="000000"/>
                </a:solidFill>
                <a:latin typeface="Roboto"/>
              </a:rPr>
              <a:t>ticket inputs.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5500" y="4097020"/>
            <a:ext cx="4751070" cy="13461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40" b="1" sz="1050">
                <a:solidFill>
                  <a:srgbClr val="000000"/>
                </a:solidFill>
                <a:latin typeface="Roboto"/>
              </a:rPr>
              <a:t>Step 6:</a:t>
            </a:r>
            <a:r>
              <a:rPr spc="-2" sz="1050">
                <a:solidFill>
                  <a:srgbClr val="000000"/>
                </a:solidFill>
                <a:latin typeface="Roboto"/>
              </a:rPr>
              <a:t> Document the test result as Pass/Fail and note any corrections required.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5500" y="4363720"/>
            <a:ext cx="5618480" cy="13461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40" b="1" sz="1050">
                <a:solidFill>
                  <a:srgbClr val="000000"/>
                </a:solidFill>
                <a:latin typeface="Roboto"/>
              </a:rPr>
              <a:t>Step 7:</a:t>
            </a:r>
            <a:r>
              <a:rPr spc="-3" sz="1050">
                <a:solidFill>
                  <a:srgbClr val="000000"/>
                </a:solidFill>
                <a:latin typeface="Roboto"/>
              </a:rPr>
              <a:t> If all tests pass, keep the flow active and mark the deployment verification as complete.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3900" y="4692650"/>
            <a:ext cx="969010" cy="1778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66" b="1" sz="1400">
                <a:solidFill>
                  <a:srgbClr val="000000"/>
                </a:solidFill>
                <a:latin typeface="Roboto"/>
              </a:rPr>
              <a:t>Conclusion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3900" y="4998720"/>
            <a:ext cx="5796280" cy="1333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" sz="1050">
                <a:solidFill>
                  <a:srgbClr val="000000"/>
                </a:solidFill>
                <a:latin typeface="Roboto"/>
              </a:rPr>
              <a:t>The Auto Ticket Classification using Flow Designer project is completed by packaging the required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3900" y="5189220"/>
            <a:ext cx="5989320" cy="1333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2" sz="1050">
                <a:solidFill>
                  <a:srgbClr val="000000"/>
                </a:solidFill>
                <a:latin typeface="Roboto"/>
              </a:rPr>
              <a:t>configuration in an Update Set, moving the Update Set to the Complete state, deploying it through the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3900" y="5379720"/>
            <a:ext cx="5618480" cy="1333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3" sz="1050">
                <a:solidFill>
                  <a:srgbClr val="000000"/>
                </a:solidFill>
                <a:latin typeface="Roboto"/>
              </a:rPr>
              <a:t>approved process, and performing post-deployment testing. The solution reduces manual ticket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3900" y="5570220"/>
            <a:ext cx="5817870" cy="1333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9" sz="1050">
                <a:solidFill>
                  <a:srgbClr val="000000"/>
                </a:solidFill>
                <a:latin typeface="Roboto"/>
              </a:rPr>
              <a:t>classification by applying the configured classification logic automatically when the ticket meets the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3900" y="5760720"/>
            <a:ext cx="1112520" cy="1333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9" sz="1050">
                <a:solidFill>
                  <a:srgbClr val="000000"/>
                </a:solidFill>
                <a:latin typeface="Roboto"/>
              </a:rPr>
              <a:t>defined conditions.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3900" y="6089650"/>
            <a:ext cx="1907539" cy="1778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51" b="1" sz="1400">
                <a:solidFill>
                  <a:srgbClr val="000000"/>
                </a:solidFill>
                <a:latin typeface="Roboto"/>
              </a:rPr>
              <a:t>Final Project Checklist</a:t>
            </a:r>
          </a:p>
        </p:txBody>
      </p:sp>
      <p:graphicFrame>
        <p:nvGraphicFramePr>
          <p:cNvPr id="24" name="Table 23"/>
          <p:cNvGraphicFramePr>
            <a:graphicFrameLocks noGrp="1"/>
          </p:cNvGraphicFramePr>
          <p:nvPr/>
        </p:nvGraphicFramePr>
        <p:xfrm>
          <a:off x="810260" y="6367780"/>
          <a:ext cx="5939789" cy="24384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59409"/>
                <a:gridCol w="5580380"/>
              </a:tblGrid>
              <a:tr h="304800">
                <a:tc>
                  <a:txBody>
                    <a:bodyPr/>
                    <a:lstStyle/>
                    <a:p>
                      <a:pPr>
                        <a:lnSpc>
                          <a:spcPts val="720"/>
                        </a:lnSpc>
                      </a:pPr>
                    </a:p>
                    <a:p>
                      <a:pPr marL="73660" algn="l">
                        <a:lnSpc>
                          <a:spcPts val="1000"/>
                        </a:lnSpc>
                      </a:pPr>
                      <a:r>
                        <a:rPr spc="488" sz="1000">
                          <a:solidFill>
                            <a:srgbClr val="000000"/>
                          </a:solidFill>
                          <a:latin typeface="Roboto"/>
                        </a:rPr>
                        <a:t>I</a:t>
                      </a:r>
                    </a:p>
                  </a:txBody>
                  <a:tcPr marL="0" marR="0" marT="0" marB="0" vert="horz">
                    <a:lnL w="2539" cap="flat" cmpd="sng" algn="ctr">
                      <a:solidFill>
                        <a:srgbClr val="808080">
                          <a:alpha val="100000"/>
                        </a:srgbClr>
                      </a:solidFill>
                    </a:lnL>
                    <a:lnR w="2540" cap="flat" cmpd="sng" algn="ctr">
                      <a:solidFill>
                        <a:srgbClr val="808080">
                          <a:alpha val="100000"/>
                        </a:srgbClr>
                      </a:solidFill>
                    </a:lnR>
                    <a:lnT w="2539" cap="flat" cmpd="sng" algn="ctr">
                      <a:solidFill>
                        <a:srgbClr val="808080">
                          <a:alpha val="100000"/>
                        </a:srgbClr>
                      </a:solidFill>
                    </a:lnT>
                    <a:lnB w="2539" cap="flat" cmpd="sng" algn="ctr">
                      <a:solidFill>
                        <a:srgbClr val="808080">
                          <a:alpha val="10000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790"/>
                        </a:lnSpc>
                      </a:pPr>
                    </a:p>
                    <a:p>
                      <a:pPr marL="73660" algn="l">
                        <a:lnSpc>
                          <a:spcPts val="1000"/>
                        </a:lnSpc>
                      </a:pPr>
                      <a:r>
                        <a:rPr spc="-3" sz="1000">
                          <a:solidFill>
                            <a:srgbClr val="000000"/>
                          </a:solidFill>
                          <a:latin typeface="Roboto"/>
                        </a:rPr>
                        <a:t>Flow Designer flow configured and tested</a:t>
                      </a:r>
                    </a:p>
                  </a:txBody>
                  <a:tcPr marL="0" marR="0" marT="0" marB="0" vert="horz">
                    <a:lnL w="2540" cap="flat" cmpd="sng" algn="ctr">
                      <a:solidFill>
                        <a:srgbClr val="808080">
                          <a:alpha val="100000"/>
                        </a:srgbClr>
                      </a:solidFill>
                    </a:lnL>
                    <a:lnR w="2540" cap="flat" cmpd="sng" algn="ctr">
                      <a:solidFill>
                        <a:srgbClr val="808080">
                          <a:alpha val="100000"/>
                        </a:srgbClr>
                      </a:solidFill>
                    </a:lnR>
                    <a:lnT w="2539" cap="flat" cmpd="sng" algn="ctr">
                      <a:solidFill>
                        <a:srgbClr val="808080">
                          <a:alpha val="100000"/>
                        </a:srgbClr>
                      </a:solidFill>
                    </a:lnT>
                    <a:lnB w="2539" cap="flat" cmpd="sng" algn="ctr">
                      <a:solidFill>
                        <a:srgbClr val="808080">
                          <a:alpha val="100000"/>
                        </a:srgbClr>
                      </a:solidFill>
                    </a:lnB>
                    <a:noFill/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>
                        <a:lnSpc>
                          <a:spcPts val="720"/>
                        </a:lnSpc>
                      </a:pPr>
                    </a:p>
                    <a:p>
                      <a:pPr marL="73660" algn="l">
                        <a:lnSpc>
                          <a:spcPts val="1000"/>
                        </a:lnSpc>
                      </a:pPr>
                      <a:r>
                        <a:rPr spc="488" sz="1000">
                          <a:solidFill>
                            <a:srgbClr val="000000"/>
                          </a:solidFill>
                          <a:latin typeface="Roboto"/>
                        </a:rPr>
                        <a:t>I</a:t>
                      </a:r>
                    </a:p>
                  </a:txBody>
                  <a:tcPr marL="0" marR="0" marT="0" marB="0" vert="horz">
                    <a:lnL w="2539" cap="flat" cmpd="sng" algn="ctr">
                      <a:solidFill>
                        <a:srgbClr val="808080">
                          <a:alpha val="100000"/>
                        </a:srgbClr>
                      </a:solidFill>
                    </a:lnL>
                    <a:lnR w="2540" cap="flat" cmpd="sng" algn="ctr">
                      <a:solidFill>
                        <a:srgbClr val="808080">
                          <a:alpha val="100000"/>
                        </a:srgbClr>
                      </a:solidFill>
                    </a:lnR>
                    <a:lnT w="2539" cap="flat" cmpd="sng" algn="ctr">
                      <a:solidFill>
                        <a:srgbClr val="808080">
                          <a:alpha val="100000"/>
                        </a:srgbClr>
                      </a:solidFill>
                    </a:lnT>
                    <a:lnB w="2539" cap="flat" cmpd="sng" algn="ctr">
                      <a:solidFill>
                        <a:srgbClr val="808080">
                          <a:alpha val="10000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790"/>
                        </a:lnSpc>
                      </a:pPr>
                    </a:p>
                    <a:p>
                      <a:pPr marL="73660" algn="l">
                        <a:lnSpc>
                          <a:spcPts val="1000"/>
                        </a:lnSpc>
                      </a:pPr>
                      <a:r>
                        <a:rPr spc="-11" sz="1000">
                          <a:solidFill>
                            <a:srgbClr val="000000"/>
                          </a:solidFill>
                          <a:latin typeface="Roboto"/>
                        </a:rPr>
                        <a:t>Auto classification logic verified</a:t>
                      </a:r>
                    </a:p>
                  </a:txBody>
                  <a:tcPr marL="0" marR="0" marT="0" marB="0" vert="horz">
                    <a:lnL w="2540" cap="flat" cmpd="sng" algn="ctr">
                      <a:solidFill>
                        <a:srgbClr val="808080">
                          <a:alpha val="100000"/>
                        </a:srgbClr>
                      </a:solidFill>
                    </a:lnL>
                    <a:lnR w="2540" cap="flat" cmpd="sng" algn="ctr">
                      <a:solidFill>
                        <a:srgbClr val="808080">
                          <a:alpha val="100000"/>
                        </a:srgbClr>
                      </a:solidFill>
                    </a:lnR>
                    <a:lnT w="2539" cap="flat" cmpd="sng" algn="ctr">
                      <a:solidFill>
                        <a:srgbClr val="808080">
                          <a:alpha val="100000"/>
                        </a:srgbClr>
                      </a:solidFill>
                    </a:lnT>
                    <a:lnB w="2539" cap="flat" cmpd="sng" algn="ctr">
                      <a:solidFill>
                        <a:srgbClr val="808080">
                          <a:alpha val="100000"/>
                        </a:srgbClr>
                      </a:solidFill>
                    </a:lnB>
                    <a:noFill/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>
                        <a:lnSpc>
                          <a:spcPts val="720"/>
                        </a:lnSpc>
                      </a:pPr>
                    </a:p>
                    <a:p>
                      <a:pPr marL="73660" algn="l">
                        <a:lnSpc>
                          <a:spcPts val="1000"/>
                        </a:lnSpc>
                      </a:pPr>
                      <a:r>
                        <a:rPr spc="488" sz="1000">
                          <a:solidFill>
                            <a:srgbClr val="000000"/>
                          </a:solidFill>
                          <a:latin typeface="Roboto"/>
                        </a:rPr>
                        <a:t>I</a:t>
                      </a:r>
                    </a:p>
                  </a:txBody>
                  <a:tcPr marL="0" marR="0" marT="0" marB="0" vert="horz">
                    <a:lnL w="2539" cap="flat" cmpd="sng" algn="ctr">
                      <a:solidFill>
                        <a:srgbClr val="808080">
                          <a:alpha val="100000"/>
                        </a:srgbClr>
                      </a:solidFill>
                    </a:lnL>
                    <a:lnR w="2540" cap="flat" cmpd="sng" algn="ctr">
                      <a:solidFill>
                        <a:srgbClr val="808080">
                          <a:alpha val="100000"/>
                        </a:srgbClr>
                      </a:solidFill>
                    </a:lnR>
                    <a:lnT w="2539" cap="flat" cmpd="sng" algn="ctr">
                      <a:solidFill>
                        <a:srgbClr val="808080">
                          <a:alpha val="100000"/>
                        </a:srgbClr>
                      </a:solidFill>
                    </a:lnT>
                    <a:lnB w="2539" cap="flat" cmpd="sng" algn="ctr">
                      <a:solidFill>
                        <a:srgbClr val="808080">
                          <a:alpha val="10000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790"/>
                        </a:lnSpc>
                      </a:pPr>
                    </a:p>
                    <a:p>
                      <a:pPr marL="73660" algn="l">
                        <a:lnSpc>
                          <a:spcPts val="1000"/>
                        </a:lnSpc>
                      </a:pPr>
                      <a:r>
                        <a:rPr spc="7" sz="1000">
                          <a:solidFill>
                            <a:srgbClr val="000000"/>
                          </a:solidFill>
                          <a:latin typeface="Roboto"/>
                        </a:rPr>
                        <a:t>Required changes captured in Update Set</a:t>
                      </a:r>
                    </a:p>
                  </a:txBody>
                  <a:tcPr marL="0" marR="0" marT="0" marB="0" vert="horz">
                    <a:lnL w="2540" cap="flat" cmpd="sng" algn="ctr">
                      <a:solidFill>
                        <a:srgbClr val="808080">
                          <a:alpha val="100000"/>
                        </a:srgbClr>
                      </a:solidFill>
                    </a:lnL>
                    <a:lnR w="2540" cap="flat" cmpd="sng" algn="ctr">
                      <a:solidFill>
                        <a:srgbClr val="808080">
                          <a:alpha val="100000"/>
                        </a:srgbClr>
                      </a:solidFill>
                    </a:lnR>
                    <a:lnT w="2539" cap="flat" cmpd="sng" algn="ctr">
                      <a:solidFill>
                        <a:srgbClr val="808080">
                          <a:alpha val="100000"/>
                        </a:srgbClr>
                      </a:solidFill>
                    </a:lnT>
                    <a:lnB w="2539" cap="flat" cmpd="sng" algn="ctr">
                      <a:solidFill>
                        <a:srgbClr val="808080">
                          <a:alpha val="100000"/>
                        </a:srgbClr>
                      </a:solidFill>
                    </a:lnB>
                    <a:noFill/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>
                        <a:lnSpc>
                          <a:spcPts val="720"/>
                        </a:lnSpc>
                      </a:pPr>
                    </a:p>
                    <a:p>
                      <a:pPr marL="73660" algn="l">
                        <a:lnSpc>
                          <a:spcPts val="1000"/>
                        </a:lnSpc>
                      </a:pPr>
                      <a:r>
                        <a:rPr spc="488" sz="1000">
                          <a:solidFill>
                            <a:srgbClr val="000000"/>
                          </a:solidFill>
                          <a:latin typeface="Roboto"/>
                        </a:rPr>
                        <a:t>I</a:t>
                      </a:r>
                    </a:p>
                  </a:txBody>
                  <a:tcPr marL="0" marR="0" marT="0" marB="0" vert="horz">
                    <a:lnL w="2539" cap="flat" cmpd="sng" algn="ctr">
                      <a:solidFill>
                        <a:srgbClr val="808080">
                          <a:alpha val="100000"/>
                        </a:srgbClr>
                      </a:solidFill>
                    </a:lnL>
                    <a:lnR w="2540" cap="flat" cmpd="sng" algn="ctr">
                      <a:solidFill>
                        <a:srgbClr val="808080">
                          <a:alpha val="100000"/>
                        </a:srgbClr>
                      </a:solidFill>
                    </a:lnR>
                    <a:lnT w="2539" cap="flat" cmpd="sng" algn="ctr">
                      <a:solidFill>
                        <a:srgbClr val="808080">
                          <a:alpha val="100000"/>
                        </a:srgbClr>
                      </a:solidFill>
                    </a:lnT>
                    <a:lnB w="2539" cap="flat" cmpd="sng" algn="ctr">
                      <a:solidFill>
                        <a:srgbClr val="808080">
                          <a:alpha val="10000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790"/>
                        </a:lnSpc>
                      </a:pPr>
                    </a:p>
                    <a:p>
                      <a:pPr marL="73660" algn="l">
                        <a:lnSpc>
                          <a:spcPts val="1000"/>
                        </a:lnSpc>
                      </a:pPr>
                      <a:r>
                        <a:rPr spc="9" sz="1000">
                          <a:solidFill>
                            <a:srgbClr val="000000"/>
                          </a:solidFill>
                          <a:latin typeface="Roboto"/>
                        </a:rPr>
                        <a:t>Update Set reviewed</a:t>
                      </a:r>
                    </a:p>
                  </a:txBody>
                  <a:tcPr marL="0" marR="0" marT="0" marB="0" vert="horz">
                    <a:lnL w="2540" cap="flat" cmpd="sng" algn="ctr">
                      <a:solidFill>
                        <a:srgbClr val="808080">
                          <a:alpha val="100000"/>
                        </a:srgbClr>
                      </a:solidFill>
                    </a:lnL>
                    <a:lnR w="2540" cap="flat" cmpd="sng" algn="ctr">
                      <a:solidFill>
                        <a:srgbClr val="808080">
                          <a:alpha val="100000"/>
                        </a:srgbClr>
                      </a:solidFill>
                    </a:lnR>
                    <a:lnT w="2539" cap="flat" cmpd="sng" algn="ctr">
                      <a:solidFill>
                        <a:srgbClr val="808080">
                          <a:alpha val="100000"/>
                        </a:srgbClr>
                      </a:solidFill>
                    </a:lnT>
                    <a:lnB w="2539" cap="flat" cmpd="sng" algn="ctr">
                      <a:solidFill>
                        <a:srgbClr val="808080">
                          <a:alpha val="100000"/>
                        </a:srgbClr>
                      </a:solidFill>
                    </a:lnB>
                    <a:noFill/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>
                        <a:lnSpc>
                          <a:spcPts val="720"/>
                        </a:lnSpc>
                      </a:pPr>
                    </a:p>
                    <a:p>
                      <a:pPr marL="73660" algn="l">
                        <a:lnSpc>
                          <a:spcPts val="1000"/>
                        </a:lnSpc>
                      </a:pPr>
                      <a:r>
                        <a:rPr spc="488" sz="1000">
                          <a:solidFill>
                            <a:srgbClr val="000000"/>
                          </a:solidFill>
                          <a:latin typeface="Roboto"/>
                        </a:rPr>
                        <a:t>I</a:t>
                      </a:r>
                    </a:p>
                  </a:txBody>
                  <a:tcPr marL="0" marR="0" marT="0" marB="0" vert="horz">
                    <a:lnL w="2539" cap="flat" cmpd="sng" algn="ctr">
                      <a:solidFill>
                        <a:srgbClr val="808080">
                          <a:alpha val="100000"/>
                        </a:srgbClr>
                      </a:solidFill>
                    </a:lnL>
                    <a:lnR w="2540" cap="flat" cmpd="sng" algn="ctr">
                      <a:solidFill>
                        <a:srgbClr val="808080">
                          <a:alpha val="100000"/>
                        </a:srgbClr>
                      </a:solidFill>
                    </a:lnR>
                    <a:lnT w="2539" cap="flat" cmpd="sng" algn="ctr">
                      <a:solidFill>
                        <a:srgbClr val="808080">
                          <a:alpha val="100000"/>
                        </a:srgbClr>
                      </a:solidFill>
                    </a:lnT>
                    <a:lnB w="2539" cap="flat" cmpd="sng" algn="ctr">
                      <a:solidFill>
                        <a:srgbClr val="808080">
                          <a:alpha val="10000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790"/>
                        </a:lnSpc>
                      </a:pPr>
                    </a:p>
                    <a:p>
                      <a:pPr marL="73660" algn="l">
                        <a:lnSpc>
                          <a:spcPts val="1000"/>
                        </a:lnSpc>
                      </a:pPr>
                      <a:r>
                        <a:rPr spc="2" sz="1000">
                          <a:solidFill>
                            <a:srgbClr val="000000"/>
                          </a:solidFill>
                          <a:latin typeface="Roboto"/>
                        </a:rPr>
                        <a:t>Update Set moved to Complete state</a:t>
                      </a:r>
                    </a:p>
                  </a:txBody>
                  <a:tcPr marL="0" marR="0" marT="0" marB="0" vert="horz">
                    <a:lnL w="2540" cap="flat" cmpd="sng" algn="ctr">
                      <a:solidFill>
                        <a:srgbClr val="808080">
                          <a:alpha val="100000"/>
                        </a:srgbClr>
                      </a:solidFill>
                    </a:lnL>
                    <a:lnR w="2540" cap="flat" cmpd="sng" algn="ctr">
                      <a:solidFill>
                        <a:srgbClr val="808080">
                          <a:alpha val="100000"/>
                        </a:srgbClr>
                      </a:solidFill>
                    </a:lnR>
                    <a:lnT w="2539" cap="flat" cmpd="sng" algn="ctr">
                      <a:solidFill>
                        <a:srgbClr val="808080">
                          <a:alpha val="100000"/>
                        </a:srgbClr>
                      </a:solidFill>
                    </a:lnT>
                    <a:lnB w="2539" cap="flat" cmpd="sng" algn="ctr">
                      <a:solidFill>
                        <a:srgbClr val="808080">
                          <a:alpha val="100000"/>
                        </a:srgbClr>
                      </a:solidFill>
                    </a:lnB>
                    <a:noFill/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>
                        <a:lnSpc>
                          <a:spcPts val="720"/>
                        </a:lnSpc>
                      </a:pPr>
                    </a:p>
                    <a:p>
                      <a:pPr marL="73660" algn="l">
                        <a:lnSpc>
                          <a:spcPts val="1000"/>
                        </a:lnSpc>
                      </a:pPr>
                      <a:r>
                        <a:rPr spc="488" sz="1000">
                          <a:solidFill>
                            <a:srgbClr val="000000"/>
                          </a:solidFill>
                          <a:latin typeface="Roboto"/>
                        </a:rPr>
                        <a:t>I</a:t>
                      </a:r>
                    </a:p>
                  </a:txBody>
                  <a:tcPr marL="0" marR="0" marT="0" marB="0" vert="horz">
                    <a:lnL w="2539" cap="flat" cmpd="sng" algn="ctr">
                      <a:solidFill>
                        <a:srgbClr val="808080">
                          <a:alpha val="100000"/>
                        </a:srgbClr>
                      </a:solidFill>
                    </a:lnL>
                    <a:lnR w="2540" cap="flat" cmpd="sng" algn="ctr">
                      <a:solidFill>
                        <a:srgbClr val="808080">
                          <a:alpha val="100000"/>
                        </a:srgbClr>
                      </a:solidFill>
                    </a:lnR>
                    <a:lnT w="2539" cap="flat" cmpd="sng" algn="ctr">
                      <a:solidFill>
                        <a:srgbClr val="808080">
                          <a:alpha val="100000"/>
                        </a:srgbClr>
                      </a:solidFill>
                    </a:lnT>
                    <a:lnB w="2539" cap="flat" cmpd="sng" algn="ctr">
                      <a:solidFill>
                        <a:srgbClr val="808080">
                          <a:alpha val="10000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790"/>
                        </a:lnSpc>
                      </a:pPr>
                    </a:p>
                    <a:p>
                      <a:pPr marL="73660" algn="l">
                        <a:lnSpc>
                          <a:spcPts val="1000"/>
                        </a:lnSpc>
                      </a:pPr>
                      <a:r>
                        <a:rPr spc="-15" sz="1000">
                          <a:solidFill>
                            <a:srgbClr val="000000"/>
                          </a:solidFill>
                          <a:latin typeface="Roboto"/>
                        </a:rPr>
                        <a:t>Deployment/commit completed</a:t>
                      </a:r>
                    </a:p>
                  </a:txBody>
                  <a:tcPr marL="0" marR="0" marT="0" marB="0" vert="horz">
                    <a:lnL w="2540" cap="flat" cmpd="sng" algn="ctr">
                      <a:solidFill>
                        <a:srgbClr val="808080">
                          <a:alpha val="100000"/>
                        </a:srgbClr>
                      </a:solidFill>
                    </a:lnL>
                    <a:lnR w="2540" cap="flat" cmpd="sng" algn="ctr">
                      <a:solidFill>
                        <a:srgbClr val="808080">
                          <a:alpha val="100000"/>
                        </a:srgbClr>
                      </a:solidFill>
                    </a:lnR>
                    <a:lnT w="2539" cap="flat" cmpd="sng" algn="ctr">
                      <a:solidFill>
                        <a:srgbClr val="808080">
                          <a:alpha val="100000"/>
                        </a:srgbClr>
                      </a:solidFill>
                    </a:lnT>
                    <a:lnB w="2539" cap="flat" cmpd="sng" algn="ctr">
                      <a:solidFill>
                        <a:srgbClr val="808080">
                          <a:alpha val="100000"/>
                        </a:srgbClr>
                      </a:solidFill>
                    </a:lnB>
                    <a:noFill/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>
                        <a:lnSpc>
                          <a:spcPts val="720"/>
                        </a:lnSpc>
                      </a:pPr>
                    </a:p>
                    <a:p>
                      <a:pPr marL="73660" algn="l">
                        <a:lnSpc>
                          <a:spcPts val="1000"/>
                        </a:lnSpc>
                      </a:pPr>
                      <a:r>
                        <a:rPr spc="488" sz="1000">
                          <a:solidFill>
                            <a:srgbClr val="000000"/>
                          </a:solidFill>
                          <a:latin typeface="Roboto"/>
                        </a:rPr>
                        <a:t>I</a:t>
                      </a:r>
                    </a:p>
                  </a:txBody>
                  <a:tcPr marL="0" marR="0" marT="0" marB="0" vert="horz">
                    <a:lnL w="2539" cap="flat" cmpd="sng" algn="ctr">
                      <a:solidFill>
                        <a:srgbClr val="808080">
                          <a:alpha val="100000"/>
                        </a:srgbClr>
                      </a:solidFill>
                    </a:lnL>
                    <a:lnR w="2540" cap="flat" cmpd="sng" algn="ctr">
                      <a:solidFill>
                        <a:srgbClr val="808080">
                          <a:alpha val="100000"/>
                        </a:srgbClr>
                      </a:solidFill>
                    </a:lnR>
                    <a:lnT w="2539" cap="flat" cmpd="sng" algn="ctr">
                      <a:solidFill>
                        <a:srgbClr val="808080">
                          <a:alpha val="100000"/>
                        </a:srgbClr>
                      </a:solidFill>
                    </a:lnT>
                    <a:lnB w="2539" cap="flat" cmpd="sng" algn="ctr">
                      <a:solidFill>
                        <a:srgbClr val="808080">
                          <a:alpha val="10000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790"/>
                        </a:lnSpc>
                      </a:pPr>
                    </a:p>
                    <a:p>
                      <a:pPr marL="73660" algn="l">
                        <a:lnSpc>
                          <a:spcPts val="1000"/>
                        </a:lnSpc>
                      </a:pPr>
                      <a:r>
                        <a:rPr spc="-3" sz="1000">
                          <a:solidFill>
                            <a:srgbClr val="000000"/>
                          </a:solidFill>
                          <a:latin typeface="Roboto"/>
                        </a:rPr>
                        <a:t>Post-deployment test passed</a:t>
                      </a:r>
                    </a:p>
                  </a:txBody>
                  <a:tcPr marL="0" marR="0" marT="0" marB="0" vert="horz">
                    <a:lnL w="2540" cap="flat" cmpd="sng" algn="ctr">
                      <a:solidFill>
                        <a:srgbClr val="808080">
                          <a:alpha val="100000"/>
                        </a:srgbClr>
                      </a:solidFill>
                    </a:lnL>
                    <a:lnR w="2540" cap="flat" cmpd="sng" algn="ctr">
                      <a:solidFill>
                        <a:srgbClr val="808080">
                          <a:alpha val="100000"/>
                        </a:srgbClr>
                      </a:solidFill>
                    </a:lnR>
                    <a:lnT w="2539" cap="flat" cmpd="sng" algn="ctr">
                      <a:solidFill>
                        <a:srgbClr val="808080">
                          <a:alpha val="100000"/>
                        </a:srgbClr>
                      </a:solidFill>
                    </a:lnT>
                    <a:lnB w="2539" cap="flat" cmpd="sng" algn="ctr">
                      <a:solidFill>
                        <a:srgbClr val="808080">
                          <a:alpha val="100000"/>
                        </a:srgbClr>
                      </a:solidFill>
                    </a:lnB>
                    <a:noFill/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>
                        <a:lnSpc>
                          <a:spcPts val="720"/>
                        </a:lnSpc>
                      </a:pPr>
                    </a:p>
                    <a:p>
                      <a:pPr marL="73660" algn="l">
                        <a:lnSpc>
                          <a:spcPts val="1000"/>
                        </a:lnSpc>
                      </a:pPr>
                      <a:r>
                        <a:rPr spc="488" sz="1000">
                          <a:solidFill>
                            <a:srgbClr val="000000"/>
                          </a:solidFill>
                          <a:latin typeface="Roboto"/>
                        </a:rPr>
                        <a:t>I</a:t>
                      </a:r>
                    </a:p>
                  </a:txBody>
                  <a:tcPr marL="0" marR="0" marT="0" marB="0" vert="horz">
                    <a:lnL w="2539" cap="flat" cmpd="sng" algn="ctr">
                      <a:solidFill>
                        <a:srgbClr val="808080">
                          <a:alpha val="100000"/>
                        </a:srgbClr>
                      </a:solidFill>
                    </a:lnL>
                    <a:lnR w="2540" cap="flat" cmpd="sng" algn="ctr">
                      <a:solidFill>
                        <a:srgbClr val="808080">
                          <a:alpha val="100000"/>
                        </a:srgbClr>
                      </a:solidFill>
                    </a:lnR>
                    <a:lnT w="2539" cap="flat" cmpd="sng" algn="ctr">
                      <a:solidFill>
                        <a:srgbClr val="808080">
                          <a:alpha val="100000"/>
                        </a:srgbClr>
                      </a:solidFill>
                    </a:lnT>
                    <a:lnB w="2539" cap="flat" cmpd="sng" algn="ctr">
                      <a:solidFill>
                        <a:srgbClr val="808080">
                          <a:alpha val="10000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790"/>
                        </a:lnSpc>
                      </a:pPr>
                    </a:p>
                    <a:p>
                      <a:pPr marL="73660" algn="l">
                        <a:lnSpc>
                          <a:spcPts val="1000"/>
                        </a:lnSpc>
                      </a:pPr>
                      <a:r>
                        <a:rPr spc="-7" sz="1000">
                          <a:solidFill>
                            <a:srgbClr val="000000"/>
                          </a:solidFill>
                          <a:latin typeface="Roboto"/>
                        </a:rPr>
                        <a:t>Project conclusion documented</a:t>
                      </a:r>
                    </a:p>
                  </a:txBody>
                  <a:tcPr marL="0" marR="0" marT="0" marB="0" vert="horz">
                    <a:lnL w="2540" cap="flat" cmpd="sng" algn="ctr">
                      <a:solidFill>
                        <a:srgbClr val="808080">
                          <a:alpha val="100000"/>
                        </a:srgbClr>
                      </a:solidFill>
                    </a:lnL>
                    <a:lnR w="2540" cap="flat" cmpd="sng" algn="ctr">
                      <a:solidFill>
                        <a:srgbClr val="808080">
                          <a:alpha val="100000"/>
                        </a:srgbClr>
                      </a:solidFill>
                    </a:lnR>
                    <a:lnT w="2539" cap="flat" cmpd="sng" algn="ctr">
                      <a:solidFill>
                        <a:srgbClr val="808080">
                          <a:alpha val="100000"/>
                        </a:srgbClr>
                      </a:solidFill>
                    </a:lnT>
                    <a:lnB w="2539" cap="flat" cmpd="sng" algn="ctr">
                      <a:solidFill>
                        <a:srgbClr val="808080">
                          <a:alpha val="100000"/>
                        </a:srgbClr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25" name="TextBox 24"/>
          <p:cNvSpPr txBox="1"/>
          <p:nvPr/>
        </p:nvSpPr>
        <p:spPr>
          <a:xfrm>
            <a:off x="723900" y="9124950"/>
            <a:ext cx="1769110" cy="1778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50" b="1" sz="1400">
                <a:solidFill>
                  <a:srgbClr val="000000"/>
                </a:solidFill>
                <a:latin typeface="Roboto"/>
              </a:rPr>
              <a:t>Project Editing Place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3900" y="9431020"/>
            <a:ext cx="4441190" cy="1333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86" sz="1050">
                <a:solidFill>
                  <a:srgbClr val="000000"/>
                </a:solidFill>
                <a:latin typeface="Roboto"/>
              </a:rPr>
              <a:t>Project Name: ________________________________________________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3900" y="9697720"/>
            <a:ext cx="4485640" cy="1333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86" sz="1050">
                <a:solidFill>
                  <a:srgbClr val="000000"/>
                </a:solidFill>
                <a:latin typeface="Roboto"/>
              </a:rPr>
              <a:t>Student Name: ________________________________________________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3900" y="680720"/>
            <a:ext cx="4500880" cy="13334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85" sz="1050">
                <a:solidFill>
                  <a:srgbClr val="000000"/>
                </a:solidFill>
                <a:latin typeface="Roboto"/>
              </a:rPr>
              <a:t>Team / Batch: _________________________________________________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23900" y="947419"/>
            <a:ext cx="4315460" cy="1333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70" sz="1050">
                <a:solidFill>
                  <a:srgbClr val="000000"/>
                </a:solidFill>
                <a:latin typeface="Roboto"/>
              </a:rPr>
              <a:t>Instance / Project ID: _________________________________________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23900" y="1214120"/>
            <a:ext cx="4389120" cy="1333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66" sz="1050">
                <a:solidFill>
                  <a:srgbClr val="000000"/>
                </a:solidFill>
                <a:latin typeface="Roboto"/>
              </a:rPr>
              <a:t>Update Set Name / Number: ____________________________________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3900" y="1480820"/>
            <a:ext cx="4307840" cy="1333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70" sz="1050">
                <a:solidFill>
                  <a:srgbClr val="000000"/>
                </a:solidFill>
                <a:latin typeface="Roboto"/>
              </a:rPr>
              <a:t>Date: ____________________ Mentor/Trainer: ____________________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3900" y="1747520"/>
            <a:ext cx="5648960" cy="1333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65" sz="1050">
                <a:solidFill>
                  <a:srgbClr val="000000"/>
                </a:solidFill>
                <a:latin typeface="Roboto"/>
              </a:rPr>
              <a:t>Notes / Screenshots to be added: _________________________________________________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