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9150" y="782320"/>
            <a:ext cx="5920740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4" b="1" sz="1900">
                <a:solidFill>
                  <a:srgbClr val="000000"/>
                </a:solidFill>
                <a:latin typeface="Roboto"/>
              </a:rPr>
              <a:t>AUTO TICKET CLASSIFICATION USING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89910" y="1087120"/>
            <a:ext cx="1379219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8" b="1" sz="1900">
                <a:solidFill>
                  <a:srgbClr val="000000"/>
                </a:solidFill>
                <a:latin typeface="Roboto"/>
              </a:rPr>
              <a:t>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557020"/>
            <a:ext cx="557022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00" b="1" sz="1500">
                <a:solidFill>
                  <a:srgbClr val="000000"/>
                </a:solidFill>
                <a:latin typeface="Roboto"/>
              </a:rPr>
              <a:t>Milestone 2: Backend Development &amp;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869439"/>
            <a:ext cx="570103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9" sz="900">
                <a:solidFill>
                  <a:srgbClr val="000000"/>
                </a:solidFill>
                <a:latin typeface="Roboto"/>
              </a:rPr>
              <a:t>Activities: 1) Custom Table  2) Fields and Data Types  3) Category → Subcategory Dependency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2165350"/>
          <a:ext cx="5939789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2" b="1" sz="850">
                          <a:solidFill>
                            <a:srgbClr val="000000"/>
                          </a:solidFill>
                          <a:latin typeface="Roboto"/>
                        </a:rPr>
                        <a:t>Custom Table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7" b="1" sz="850">
                          <a:solidFill>
                            <a:srgbClr val="000000"/>
                          </a:solidFill>
                          <a:latin typeface="Roboto"/>
                        </a:rPr>
                        <a:t>Fields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7" b="1" sz="850">
                          <a:solidFill>
                            <a:srgbClr val="000000"/>
                          </a:solidFill>
                          <a:latin typeface="Roboto"/>
                        </a:rPr>
                        <a:t>Choice Values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12" b="1" sz="850">
                          <a:solidFill>
                            <a:srgbClr val="000000"/>
                          </a:solidFill>
                          <a:latin typeface="Roboto"/>
                        </a:rPr>
                        <a:t>Dependency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9" b="1" sz="850">
                          <a:solidFill>
                            <a:srgbClr val="000000"/>
                          </a:solidFill>
                          <a:latin typeface="Roboto"/>
                        </a:rPr>
                        <a:t>Ready for Flow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2811780"/>
            <a:ext cx="170433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b="1" sz="1200">
                <a:solidFill>
                  <a:srgbClr val="000000"/>
                </a:solidFill>
                <a:latin typeface="Roboto"/>
              </a:rPr>
              <a:t>Milestone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3069590"/>
            <a:ext cx="577342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900">
                <a:solidFill>
                  <a:srgbClr val="000000"/>
                </a:solidFill>
                <a:latin typeface="Roboto"/>
              </a:rPr>
              <a:t>Build the backend structure required for the ticket-classification project. A custom table stores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3241040"/>
            <a:ext cx="587121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0000"/>
                </a:solidFill>
                <a:latin typeface="Roboto"/>
              </a:rPr>
              <a:t>project ticket records, fields hold ticket information, and dependent choice fields make Subcategory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3412490"/>
            <a:ext cx="246634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sz="900">
                <a:solidFill>
                  <a:srgbClr val="000000"/>
                </a:solidFill>
                <a:latin typeface="Roboto"/>
              </a:rPr>
              <a:t>choices depend on the selected Category.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3643629"/>
            <a:ext cx="570103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sz="800">
                <a:solidFill>
                  <a:srgbClr val="000000"/>
                </a:solidFill>
                <a:latin typeface="Roboto"/>
              </a:rPr>
              <a:t>Recommended example table: </a:t>
            </a:r>
            <a:r>
              <a:rPr spc="85" b="1" sz="800">
                <a:solidFill>
                  <a:srgbClr val="000000"/>
                </a:solidFill>
                <a:latin typeface="Roboto"/>
              </a:rPr>
              <a:t>u_auto_ticket</a:t>
            </a:r>
            <a:r>
              <a:rPr spc="42" sz="800">
                <a:solidFill>
                  <a:srgbClr val="000000"/>
                </a:solidFill>
                <a:latin typeface="Roboto"/>
              </a:rPr>
              <a:t>. Use your application's naming standard. Exact screens can vary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90" y="3776979"/>
            <a:ext cx="185292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800">
                <a:solidFill>
                  <a:srgbClr val="000000"/>
                </a:solidFill>
                <a:latin typeface="Roboto"/>
              </a:rPr>
              <a:t>ServiceNow release, roles and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2 – 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0930"/>
            <a:ext cx="4250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b="1" sz="1200">
                <a:solidFill>
                  <a:srgbClr val="000000"/>
                </a:solidFill>
                <a:latin typeface="Roboto"/>
              </a:rPr>
              <a:t>Creation of Custom Table to Store Ticket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48740"/>
            <a:ext cx="592455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900">
                <a:solidFill>
                  <a:srgbClr val="000000"/>
                </a:solidFill>
                <a:latin typeface="Roboto"/>
              </a:rPr>
              <a:t>Create a dedicated custom table for the project unless the project specifically requires Incident-table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20190"/>
            <a:ext cx="857249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customization.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1727200"/>
          <a:ext cx="593979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1" b="1" sz="850">
                          <a:solidFill>
                            <a:srgbClr val="000000"/>
                          </a:solidFill>
                          <a:latin typeface="Roboto"/>
                        </a:rPr>
                        <a:t>PICTURE VIEW – CUSTOM TABLE NAVIGATION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1 Open the table-creation area available in your ServiceNow instance.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2 Choose the option to create a new custom table.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3 Enter a clear table label, for example: Auto Ticket.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4 Use the generated/scoped table name according to your naming convention.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5 Configure only the required scope, access, auditing and reporting options.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6 Save the table and verify it appears in the Tables list.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3770629"/>
            <a:ext cx="2844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b="1" sz="1200">
                <a:solidFill>
                  <a:srgbClr val="000000"/>
                </a:solidFill>
                <a:latin typeface="Roboto"/>
              </a:rPr>
              <a:t>Action 1 – Custom Table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90" y="4027170"/>
            <a:ext cx="499364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900">
                <a:solidFill>
                  <a:srgbClr val="000000"/>
                </a:solidFill>
                <a:latin typeface="Roboto"/>
              </a:rPr>
              <a:t>1. Open table configuration — Navigate to the ServiceNow area used in your instance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90" y="4185920"/>
            <a:ext cx="1543049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900">
                <a:solidFill>
                  <a:srgbClr val="000000"/>
                </a:solidFill>
                <a:latin typeface="Roboto"/>
              </a:rPr>
              <a:t>creating/configuring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90" y="4382770"/>
            <a:ext cx="319532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00">
                <a:solidFill>
                  <a:srgbClr val="000000"/>
                </a:solidFill>
                <a:latin typeface="Roboto"/>
              </a:rPr>
              <a:t>2. Create New — Select the option to create a new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90" y="4579620"/>
            <a:ext cx="372364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sz="900">
                <a:solidFill>
                  <a:srgbClr val="000000"/>
                </a:solidFill>
                <a:latin typeface="Roboto"/>
              </a:rPr>
              <a:t>3. Table label — Enter Auto Ticket or your approved project name.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90" y="4776470"/>
            <a:ext cx="562102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900">
                <a:solidFill>
                  <a:srgbClr val="000000"/>
                </a:solidFill>
                <a:latin typeface="Roboto"/>
              </a:rPr>
              <a:t>4. Table name — Allow ServiceNow to generate the scoped name or follow your naming convention.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4973320"/>
            <a:ext cx="564261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sz="900">
                <a:solidFill>
                  <a:srgbClr val="000000"/>
                </a:solidFill>
                <a:latin typeface="Roboto"/>
              </a:rPr>
              <a:t>5. Configure basic options — Review application scope, access, auditing and other required settings.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5170170"/>
            <a:ext cx="154559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900">
                <a:solidFill>
                  <a:srgbClr val="000000"/>
                </a:solidFill>
                <a:latin typeface="Roboto"/>
              </a:rPr>
              <a:t>6. Save — Create the 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5367020"/>
            <a:ext cx="337439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7. Verify — Open the definition and confirm the table exists.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290" y="5624830"/>
            <a:ext cx="19215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b="1" sz="1200">
                <a:solidFill>
                  <a:srgbClr val="000000"/>
                </a:solidFill>
                <a:latin typeface="Roboto"/>
              </a:rPr>
              <a:t>Model – backend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10260" y="5854700"/>
          <a:ext cx="5939789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4630"/>
                <a:gridCol w="1484630"/>
                <a:gridCol w="1485900"/>
                <a:gridCol w="1484629"/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3" b="1" sz="850">
                          <a:solidFill>
                            <a:srgbClr val="000000"/>
                          </a:solidFill>
                          <a:latin typeface="Roboto"/>
                        </a:rPr>
                        <a:t>User Ticket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2" b="1" sz="850">
                          <a:solidFill>
                            <a:srgbClr val="000000"/>
                          </a:solidFill>
                          <a:latin typeface="Roboto"/>
                        </a:rPr>
                        <a:t>Auto Ticket Table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8" b="1" sz="850">
                          <a:solidFill>
                            <a:srgbClr val="000000"/>
                          </a:solidFill>
                          <a:latin typeface="Roboto"/>
                        </a:rPr>
                        <a:t>Ticket Fields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1" b="1" sz="850">
                          <a:solidFill>
                            <a:srgbClr val="000000"/>
                          </a:solidFill>
                          <a:latin typeface="Roboto"/>
                        </a:rPr>
                        <a:t>Flow Designer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2 – 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0930"/>
            <a:ext cx="3736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5" b="1" sz="1200">
                <a:solidFill>
                  <a:srgbClr val="000000"/>
                </a:solidFill>
                <a:latin typeface="Roboto"/>
              </a:rPr>
              <a:t>Field Creation and Data Type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48740"/>
            <a:ext cx="592582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0000"/>
                </a:solidFill>
                <a:latin typeface="Roboto"/>
              </a:rPr>
              <a:t>Create the fields needed by the ticket-classification logic. Match each data type to how the value will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20190"/>
            <a:ext cx="116713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sz="900">
                <a:solidFill>
                  <a:srgbClr val="000000"/>
                </a:solidFill>
                <a:latin typeface="Roboto"/>
              </a:rPr>
              <a:t>be stored and used.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1727200"/>
          <a:ext cx="5939790" cy="2089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0" b="1" sz="850">
                          <a:solidFill>
                            <a:srgbClr val="000000"/>
                          </a:solidFill>
                          <a:latin typeface="Roboto"/>
                        </a:rPr>
                        <a:t>PICTURE VIEW – FIELD CREATION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1 Open the Auto Ticket table definition.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7" sz="800">
                          <a:solidFill>
                            <a:srgbClr val="000000"/>
                          </a:solidFill>
                          <a:latin typeface="Roboto"/>
                        </a:rPr>
                        <a:t>2 Open its Columns/Fields area or equivalent.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3 Select New to create a field.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4 Enter the field label and choose the correct data type.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6" sz="800">
                          <a:solidFill>
                            <a:srgbClr val="000000"/>
                          </a:solidFill>
                          <a:latin typeface="Roboto"/>
                        </a:rPr>
                        <a:t>5 Configure mandatory/default/choice settings where required.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6 Save and repeat for the remaining fields.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7 Verify names and types before building the flow.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4030979"/>
            <a:ext cx="198373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b="1" sz="1200">
                <a:solidFill>
                  <a:srgbClr val="000000"/>
                </a:solidFill>
                <a:latin typeface="Roboto"/>
              </a:rPr>
              <a:t>Action 2 – Create fields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0260" y="4260850"/>
          <a:ext cx="5939788" cy="1466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367789"/>
                <a:gridCol w="1369060"/>
                <a:gridCol w="2015489"/>
              </a:tblGrid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0" sz="800">
                          <a:solidFill>
                            <a:srgbClr val="000000"/>
                          </a:solidFill>
                          <a:latin typeface="Roboto"/>
                        </a:rPr>
                        <a:t>Field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9" sz="800">
                          <a:solidFill>
                            <a:srgbClr val="000000"/>
                          </a:solidFill>
                          <a:latin typeface="Roboto"/>
                        </a:rPr>
                        <a:t>Example name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7" sz="800">
                          <a:solidFill>
                            <a:srgbClr val="000000"/>
                          </a:solidFill>
                          <a:latin typeface="Roboto"/>
                        </a:rPr>
                        <a:t>Type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25" sz="800">
                          <a:solidFill>
                            <a:srgbClr val="000000"/>
                          </a:solidFill>
                          <a:latin typeface="Roboto"/>
                        </a:rPr>
                        <a:t>Purpose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Ticket Number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3" sz="800">
                          <a:solidFill>
                            <a:srgbClr val="000000"/>
                          </a:solidFill>
                          <a:latin typeface="Roboto"/>
                        </a:rPr>
                        <a:t>u_ticket_number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String / Auto-number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Unique ticket reference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6" sz="800">
                          <a:solidFill>
                            <a:srgbClr val="000000"/>
                          </a:solidFill>
                          <a:latin typeface="Roboto"/>
                        </a:rPr>
                        <a:t>Short Description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3" sz="800">
                          <a:solidFill>
                            <a:srgbClr val="000000"/>
                          </a:solidFill>
                          <a:latin typeface="Roboto"/>
                        </a:rPr>
                        <a:t>u_short_description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String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28" sz="800">
                          <a:solidFill>
                            <a:srgbClr val="000000"/>
                          </a:solidFill>
                          <a:latin typeface="Roboto"/>
                        </a:rPr>
                        <a:t>Classification input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5" sz="800">
                          <a:solidFill>
                            <a:srgbClr val="000000"/>
                          </a:solidFill>
                          <a:latin typeface="Roboto"/>
                        </a:rPr>
                        <a:t>Description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3" sz="800">
                          <a:solidFill>
                            <a:srgbClr val="000000"/>
                          </a:solidFill>
                          <a:latin typeface="Roboto"/>
                        </a:rPr>
                        <a:t>u_description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6" sz="800">
                          <a:solidFill>
                            <a:srgbClr val="000000"/>
                          </a:solidFill>
                          <a:latin typeface="Roboto"/>
                        </a:rPr>
                        <a:t>Multi-line String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Detailed information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5" sz="800">
                          <a:solidFill>
                            <a:srgbClr val="000000"/>
                          </a:solidFill>
                          <a:latin typeface="Roboto"/>
                        </a:rPr>
                        <a:t>Category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3" sz="800">
                          <a:solidFill>
                            <a:srgbClr val="000000"/>
                          </a:solidFill>
                          <a:latin typeface="Roboto"/>
                        </a:rPr>
                        <a:t>u_category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2" sz="800">
                          <a:solidFill>
                            <a:srgbClr val="000000"/>
                          </a:solidFill>
                          <a:latin typeface="Roboto"/>
                        </a:rPr>
                        <a:t>Choice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29" sz="800">
                          <a:solidFill>
                            <a:srgbClr val="000000"/>
                          </a:solidFill>
                          <a:latin typeface="Roboto"/>
                        </a:rPr>
                        <a:t>Top-level classification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Subcategory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u_subcategory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2" sz="800">
                          <a:solidFill>
                            <a:srgbClr val="000000"/>
                          </a:solidFill>
                          <a:latin typeface="Roboto"/>
                        </a:rPr>
                        <a:t>Choice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4" sz="800">
                          <a:solidFill>
                            <a:srgbClr val="000000"/>
                          </a:solidFill>
                          <a:latin typeface="Roboto"/>
                        </a:rPr>
                        <a:t>Dependent classification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22" sz="80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23" sz="800">
                          <a:solidFill>
                            <a:srgbClr val="000000"/>
                          </a:solidFill>
                          <a:latin typeface="Roboto"/>
                        </a:rPr>
                        <a:t>u_classification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0" sz="800">
                          <a:solidFill>
                            <a:srgbClr val="000000"/>
                          </a:solidFill>
                          <a:latin typeface="Roboto"/>
                        </a:rPr>
                        <a:t>Choice / String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7" sz="800">
                          <a:solidFill>
                            <a:srgbClr val="000000"/>
                          </a:solidFill>
                          <a:latin typeface="Roboto"/>
                        </a:rPr>
                        <a:t>Final output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85190" y="5754370"/>
            <a:ext cx="386461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sz="900">
                <a:solidFill>
                  <a:srgbClr val="000000"/>
                </a:solidFill>
                <a:latin typeface="Roboto"/>
              </a:rPr>
              <a:t>1. Open the table — Open the Auto Ticket table created in Activity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90" y="5951220"/>
            <a:ext cx="493268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00">
                <a:solidFill>
                  <a:srgbClr val="000000"/>
                </a:solidFill>
                <a:latin typeface="Roboto"/>
              </a:rPr>
              <a:t>2. Create Short Description — Use a suitable String type and required maximum length.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90" y="6148070"/>
            <a:ext cx="428752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sz="900">
                <a:solidFill>
                  <a:srgbClr val="000000"/>
                </a:solidFill>
                <a:latin typeface="Roboto"/>
              </a:rPr>
              <a:t>3. Create Description — Use a multi-line/string type for detailed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90" y="6344920"/>
            <a:ext cx="409321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00">
                <a:solidFill>
                  <a:srgbClr val="000000"/>
                </a:solidFill>
                <a:latin typeface="Roboto"/>
              </a:rPr>
              <a:t>4. Create Category — Choose Choice and add approved category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6541770"/>
            <a:ext cx="577596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5. Create Subcategory — Choose Choice and prepare subcategory values; dependency is configured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6700520"/>
            <a:ext cx="56261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sz="900">
                <a:solidFill>
                  <a:srgbClr val="000000"/>
                </a:solidFill>
                <a:latin typeface="Roboto"/>
              </a:rPr>
              <a:t>Activity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6897370"/>
            <a:ext cx="485902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sz="900">
                <a:solidFill>
                  <a:srgbClr val="000000"/>
                </a:solidFill>
                <a:latin typeface="Roboto"/>
              </a:rPr>
              <a:t>6. Create Classification — Use Choice or String based on the final classification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90" y="7094220"/>
            <a:ext cx="484124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sz="900">
                <a:solidFill>
                  <a:srgbClr val="000000"/>
                </a:solidFill>
                <a:latin typeface="Roboto"/>
              </a:rPr>
              <a:t>7. Verify — Check labels, internal names, data types, mandatory settings and choices.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2 – 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0930"/>
            <a:ext cx="54533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8" b="1" sz="1200">
                <a:solidFill>
                  <a:srgbClr val="000000"/>
                </a:solidFill>
                <a:latin typeface="Roboto"/>
              </a:rPr>
              <a:t>Implementing Dependency Between Category and Subcategory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294130"/>
            <a:ext cx="11353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b="1" sz="1200">
                <a:solidFill>
                  <a:srgbClr val="000000"/>
                </a:solidFill>
                <a:latin typeface="Roboto"/>
              </a:rPr>
              <a:t>Choice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51940"/>
            <a:ext cx="576961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sz="900">
                <a:solidFill>
                  <a:srgbClr val="000000"/>
                </a:solidFill>
                <a:latin typeface="Roboto"/>
              </a:rPr>
              <a:t>The goal is to prevent unrelated Subcategory choices from appearing after a Category is selected.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1723389"/>
            <a:ext cx="543941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0000"/>
                </a:solidFill>
                <a:latin typeface="Roboto"/>
              </a:rPr>
              <a:t>Example: Hardware shows hardware subcategories; Software shows software subcategories.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0260" y="1930400"/>
          <a:ext cx="593979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77" b="1" sz="850">
                          <a:solidFill>
                            <a:srgbClr val="000000"/>
                          </a:solidFill>
                          <a:latin typeface="Roboto"/>
                        </a:rPr>
                        <a:t>PICTURE VIEW – CATEGORY → SUBCATEGORY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1 Open the Subcategory choice field definition.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2 Confirm Category and Subcategory are Choice fields.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algn="ctr">
                        <a:lnSpc>
                          <a:spcPts val="78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3 Configure Subcategory as dependent on Category using the supported dependency mechanism in your instance.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4 Assign each Subcategory choice to the correct Category dependency value.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5 Save/update the configuration.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6 Open the ticket form and test each Category selection.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6290" y="3973829"/>
            <a:ext cx="31800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6" b="1" sz="1200">
                <a:solidFill>
                  <a:srgbClr val="000000"/>
                </a:solidFill>
                <a:latin typeface="Roboto"/>
              </a:rPr>
              <a:t>Action 3 – Dependency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90" y="4230370"/>
            <a:ext cx="527050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1. Open Subcategory — Go to the Auto Ticket table and open the Subcategory field definition.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90" y="4427220"/>
            <a:ext cx="362712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900">
                <a:solidFill>
                  <a:srgbClr val="000000"/>
                </a:solidFill>
                <a:latin typeface="Roboto"/>
              </a:rPr>
              <a:t>2. Confirm data type — Verify that Subcategory is a Choice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90" y="4624070"/>
            <a:ext cx="574675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sz="900">
                <a:solidFill>
                  <a:srgbClr val="000000"/>
                </a:solidFill>
                <a:latin typeface="Roboto"/>
              </a:rPr>
              <a:t>3. Set dependency — Use the supported dependent/dependency setting to make Subcategory depend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90" y="4782820"/>
            <a:ext cx="72136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00">
                <a:solidFill>
                  <a:srgbClr val="000000"/>
                </a:solidFill>
                <a:latin typeface="Roboto"/>
              </a:rPr>
              <a:t>on Category.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4979670"/>
            <a:ext cx="581152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4. Configure choice values — For each Subcategory option, set its dependency value to the appropriate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5138420"/>
            <a:ext cx="54610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00">
                <a:solidFill>
                  <a:srgbClr val="000000"/>
                </a:solidFill>
                <a:latin typeface="Roboto"/>
              </a:rPr>
              <a:t>Category.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5335270"/>
            <a:ext cx="338963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5. Save — Update the field and related choice configuration.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90" y="5532120"/>
            <a:ext cx="296926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sz="900">
                <a:solidFill>
                  <a:srgbClr val="000000"/>
                </a:solidFill>
                <a:latin typeface="Roboto"/>
              </a:rPr>
              <a:t>6. Open the form — Create a test Auto Ticket record.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90" y="5728970"/>
            <a:ext cx="552958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7. Test Category — Select a Category and verify only matching Subcategory choices are available.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90" y="5925820"/>
            <a:ext cx="521589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8. Test changes — Change Category and verify the Subcategory options change accordingly.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290" y="6285230"/>
            <a:ext cx="24066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5" b="1" sz="1200">
                <a:solidFill>
                  <a:srgbClr val="000000"/>
                </a:solidFill>
                <a:latin typeface="Roboto"/>
              </a:rPr>
              <a:t>Example dependency model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0260" y="6515100"/>
          <a:ext cx="5939788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9929"/>
                <a:gridCol w="1979930"/>
                <a:gridCol w="1979929"/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6" b="1" sz="850">
                          <a:solidFill>
                            <a:srgbClr val="000000"/>
                          </a:solidFill>
                          <a:latin typeface="Roboto"/>
                        </a:rPr>
                        <a:t>Category Hardware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-149" b="1" sz="850">
                          <a:solidFill>
                            <a:srgbClr val="000000"/>
                          </a:solidFill>
                          <a:latin typeface="Roboto"/>
                        </a:rPr>
                        <a:t>→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8" b="1" sz="850">
                          <a:solidFill>
                            <a:srgbClr val="000000"/>
                          </a:solidFill>
                          <a:latin typeface="Roboto"/>
                        </a:rPr>
                        <a:t>Laptop / Desktop / Printer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0260" y="6959600"/>
          <a:ext cx="5939788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9929"/>
                <a:gridCol w="1979930"/>
                <a:gridCol w="1979929"/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2" b="1" sz="850">
                          <a:solidFill>
                            <a:srgbClr val="000000"/>
                          </a:solidFill>
                          <a:latin typeface="Roboto"/>
                        </a:rPr>
                        <a:t>Category Software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-149" b="1" sz="850">
                          <a:solidFill>
                            <a:srgbClr val="000000"/>
                          </a:solidFill>
                          <a:latin typeface="Roboto"/>
                        </a:rPr>
                        <a:t>→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78" b="1" sz="850">
                          <a:solidFill>
                            <a:srgbClr val="000000"/>
                          </a:solidFill>
                          <a:latin typeface="Roboto"/>
                        </a:rPr>
                        <a:t>OS / Application / License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96290" y="7428230"/>
            <a:ext cx="566928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sz="800">
                <a:solidFill>
                  <a:srgbClr val="000000"/>
                </a:solidFill>
                <a:latin typeface="Roboto"/>
              </a:rPr>
              <a:t>Important: The exact dependency UI can differ between ServiceNow configurations. Use the equivalent 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" y="7561580"/>
            <a:ext cx="174625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sz="800">
                <a:solidFill>
                  <a:srgbClr val="000000"/>
                </a:solidFill>
                <a:latin typeface="Roboto"/>
              </a:rPr>
              <a:t>mechanism for your release/scope.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430403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b="1" sz="1500">
                <a:solidFill>
                  <a:srgbClr val="000000"/>
                </a:solidFill>
                <a:latin typeface="Roboto"/>
              </a:rPr>
              <a:t>MILESTONE 2 – COMPLETION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82040"/>
            <a:ext cx="494538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sz="900">
                <a:solidFill>
                  <a:srgbClr val="000000"/>
                </a:solidFill>
                <a:latin typeface="Roboto"/>
              </a:rPr>
              <a:t>Confirm the backend configuration before moving to Flow Designer implementation.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0260" y="1289050"/>
          <a:ext cx="5939789" cy="1047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4067810"/>
                <a:gridCol w="720089"/>
              </a:tblGrid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25" sz="800">
                          <a:solidFill>
                            <a:srgbClr val="000000"/>
                          </a:solidFill>
                          <a:latin typeface="Roboto"/>
                        </a:rPr>
                        <a:t>Action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Completion item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3" sz="800">
                          <a:solidFill>
                            <a:srgbClr val="000000"/>
                          </a:solidFill>
                          <a:latin typeface="Roboto"/>
                        </a:rPr>
                        <a:t>Status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2" sz="800">
                          <a:solidFill>
                            <a:srgbClr val="000000"/>
                          </a:solidFill>
                          <a:latin typeface="Roboto"/>
                        </a:rPr>
                        <a:t>Action 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Custom Auto Ticket table created and verified.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-100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2" sz="800">
                          <a:solidFill>
                            <a:srgbClr val="000000"/>
                          </a:solidFill>
                          <a:latin typeface="Roboto"/>
                        </a:rPr>
                        <a:t>Action 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Required fields created with correct data types and choice values.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-100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2" sz="800">
                          <a:solidFill>
                            <a:srgbClr val="000000"/>
                          </a:solidFill>
                          <a:latin typeface="Roboto"/>
                        </a:rPr>
                        <a:t>Action 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Category → Subcategory dependency configured and tested.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-100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45" sz="800">
                          <a:solidFill>
                            <a:srgbClr val="000000"/>
                          </a:solidFill>
                          <a:latin typeface="Roboto"/>
                        </a:rPr>
                        <a:t>Backend review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Table, fields, internal names and dependencies documented.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-100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6290" y="2589530"/>
            <a:ext cx="20154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b="1" sz="1200">
                <a:solidFill>
                  <a:srgbClr val="000000"/>
                </a:solidFill>
                <a:latin typeface="Roboto"/>
              </a:rPr>
              <a:t>Milestone 2 final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2819400"/>
          <a:ext cx="5939789" cy="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2" b="1" sz="850">
                          <a:solidFill>
                            <a:srgbClr val="000000"/>
                          </a:solidFill>
                          <a:latin typeface="Roboto"/>
                        </a:rPr>
                        <a:t>Custom Table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9" b="1" sz="850">
                          <a:solidFill>
                            <a:srgbClr val="000000"/>
                          </a:solidFill>
                          <a:latin typeface="Roboto"/>
                        </a:rPr>
                        <a:t>Fields + Types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6" b="1" sz="850">
                          <a:solidFill>
                            <a:srgbClr val="000000"/>
                          </a:solidFill>
                          <a:latin typeface="Roboto"/>
                        </a:rPr>
                        <a:t>Category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117" b="1" sz="850">
                          <a:solidFill>
                            <a:srgbClr val="000000"/>
                          </a:solidFill>
                          <a:latin typeface="Roboto"/>
                        </a:rPr>
                        <a:t>Dependent</a:t>
                      </a:r>
                      <a:br/>
                      <a:r>
                        <a:rPr spc="106" b="1" sz="850">
                          <a:solidFill>
                            <a:srgbClr val="000000"/>
                          </a:solidFill>
                          <a:latin typeface="Roboto"/>
                        </a:rPr>
                        <a:t>Subcategory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9" b="1" sz="850">
                          <a:solidFill>
                            <a:srgbClr val="000000"/>
                          </a:solidFill>
                          <a:latin typeface="Roboto"/>
                        </a:rPr>
                        <a:t>Ready for Flow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3507740"/>
            <a:ext cx="569976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900">
                <a:solidFill>
                  <a:srgbClr val="000000"/>
                </a:solidFill>
                <a:latin typeface="Roboto"/>
              </a:rPr>
              <a:t>Next Milestone: Flow Designer implementation — trigger, classification logic, actions, testing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3679190"/>
            <a:ext cx="130429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900">
                <a:solidFill>
                  <a:srgbClr val="000000"/>
                </a:solidFill>
                <a:latin typeface="Roboto"/>
              </a:rPr>
              <a:t>execution verification.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3910329"/>
            <a:ext cx="268732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1" sz="800">
                <a:solidFill>
                  <a:srgbClr val="000000"/>
                </a:solidFill>
                <a:latin typeface="Roboto"/>
              </a:rPr>
              <a:t>Project: Auto Ticket Classification using Flow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4043679"/>
            <a:ext cx="319913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sz="800">
                <a:solidFill>
                  <a:srgbClr val="000000"/>
                </a:solidFill>
                <a:latin typeface="Roboto"/>
              </a:rPr>
              <a:t>Document: Milestone 2 – Backend Development &amp;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