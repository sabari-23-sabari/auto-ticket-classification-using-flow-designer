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75599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9150" y="782320"/>
            <a:ext cx="5920740" cy="241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4" b="1" sz="1900">
                <a:solidFill>
                  <a:srgbClr val="000000"/>
                </a:solidFill>
                <a:latin typeface="Roboto"/>
              </a:rPr>
              <a:t>AUTO TICKET CLASSIFICATION USING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89910" y="1087120"/>
            <a:ext cx="1379219" cy="241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48" b="1" sz="1900">
                <a:solidFill>
                  <a:srgbClr val="000000"/>
                </a:solidFill>
                <a:latin typeface="Roboto"/>
              </a:rPr>
              <a:t>DESIGNER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6290" y="1557020"/>
            <a:ext cx="461264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94" b="1" sz="1500">
                <a:solidFill>
                  <a:srgbClr val="000000"/>
                </a:solidFill>
                <a:latin typeface="Roboto"/>
              </a:rPr>
              <a:t>Milestone 4: Testing, Validation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6290" y="1869439"/>
            <a:ext cx="4055110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2" sz="900">
                <a:solidFill>
                  <a:srgbClr val="000000"/>
                </a:solidFill>
                <a:latin typeface="Roboto"/>
              </a:rPr>
              <a:t>Activities: 1) Test Scenario 1  2) Test Scenario 2  3) Test Scenario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10260" y="2162810"/>
          <a:ext cx="5939789" cy="50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7450"/>
                <a:gridCol w="1188720"/>
                <a:gridCol w="1187449"/>
                <a:gridCol w="1188720"/>
                <a:gridCol w="1187450"/>
              </a:tblGrid>
              <a:tr h="508000">
                <a:tc>
                  <a:txBody>
                    <a:bodyPr/>
                    <a:lstStyle/>
                    <a:p>
                      <a:pPr>
                        <a:lnSpc>
                          <a:spcPts val="780"/>
                        </a:lnSpc>
                      </a:pPr>
                    </a:p>
                    <a:p>
                      <a:pPr algn="ctr">
                        <a:lnSpc>
                          <a:spcPts val="1100"/>
                        </a:lnSpc>
                      </a:pPr>
                      <a:r>
                        <a:rPr spc="112" b="1" sz="800">
                          <a:solidFill>
                            <a:srgbClr val="000000"/>
                          </a:solidFill>
                          <a:latin typeface="Roboto"/>
                        </a:rPr>
                        <a:t>Create Test</a:t>
                      </a:r>
                      <a:br/>
                      <a:r>
                        <a:rPr spc="106" b="1" sz="800">
                          <a:solidFill>
                            <a:srgbClr val="000000"/>
                          </a:solidFill>
                          <a:latin typeface="Roboto"/>
                        </a:rPr>
                        <a:t>Ticket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</a:pPr>
                    </a:p>
                    <a:p>
                      <a:pPr algn="ctr">
                        <a:lnSpc>
                          <a:spcPts val="819"/>
                        </a:lnSpc>
                      </a:pPr>
                      <a:r>
                        <a:rPr spc="121" b="1" sz="800">
                          <a:solidFill>
                            <a:srgbClr val="000000"/>
                          </a:solidFill>
                          <a:latin typeface="Roboto"/>
                        </a:rPr>
                        <a:t>Run Flow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</a:pPr>
                    </a:p>
                    <a:p>
                      <a:pPr algn="ctr">
                        <a:lnSpc>
                          <a:spcPts val="819"/>
                        </a:lnSpc>
                      </a:pPr>
                      <a:r>
                        <a:rPr spc="114" b="1" sz="800">
                          <a:solidFill>
                            <a:srgbClr val="000000"/>
                          </a:solidFill>
                          <a:latin typeface="Roboto"/>
                        </a:rPr>
                        <a:t>Validate Result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</a:pPr>
                    </a:p>
                    <a:p>
                      <a:pPr algn="ctr">
                        <a:lnSpc>
                          <a:spcPts val="819"/>
                        </a:lnSpc>
                      </a:pPr>
                      <a:r>
                        <a:rPr spc="109" b="1" sz="800">
                          <a:solidFill>
                            <a:srgbClr val="000000"/>
                          </a:solidFill>
                          <a:latin typeface="Roboto"/>
                        </a:rPr>
                        <a:t>Check Email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</a:pPr>
                    </a:p>
                    <a:p>
                      <a:pPr algn="ctr">
                        <a:lnSpc>
                          <a:spcPts val="819"/>
                        </a:lnSpc>
                      </a:pPr>
                      <a:r>
                        <a:rPr spc="115" b="1" sz="800">
                          <a:solidFill>
                            <a:srgbClr val="000000"/>
                          </a:solidFill>
                          <a:latin typeface="Roboto"/>
                        </a:rPr>
                        <a:t>Security Check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6290" y="2948940"/>
            <a:ext cx="170433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2" b="1" sz="1200">
                <a:solidFill>
                  <a:srgbClr val="000000"/>
                </a:solidFill>
                <a:latin typeface="Roboto"/>
              </a:rPr>
              <a:t>Milestone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6290" y="3206750"/>
            <a:ext cx="5538470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5" sz="900">
                <a:solidFill>
                  <a:srgbClr val="000000"/>
                </a:solidFill>
                <a:latin typeface="Roboto"/>
              </a:rPr>
              <a:t>Verify that the Auto Ticket Classification flow works correctly for different ticket inputs, handles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290" y="3375660"/>
            <a:ext cx="5082540" cy="115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0" sz="900">
                <a:solidFill>
                  <a:srgbClr val="000000"/>
                </a:solidFill>
                <a:latin typeface="Roboto"/>
              </a:rPr>
              <a:t>non-matching tickets safely, sends the expected notification, and respects the project's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290" y="3544570"/>
            <a:ext cx="1741170" cy="115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4" sz="900">
                <a:solidFill>
                  <a:srgbClr val="000000"/>
                </a:solidFill>
                <a:latin typeface="Roboto"/>
              </a:rPr>
              <a:t>access/security requirements.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6290" y="3773170"/>
            <a:ext cx="5511800" cy="977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4" sz="750">
                <a:solidFill>
                  <a:srgbClr val="000000"/>
                </a:solidFill>
                <a:latin typeface="Roboto"/>
              </a:rPr>
              <a:t>Prerequisite: Milestones 1–3 should be completed. Run tests in a development/test instance or an approved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6290" y="3905250"/>
            <a:ext cx="2077720" cy="977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8" sz="750">
                <a:solidFill>
                  <a:srgbClr val="000000"/>
                </a:solidFill>
                <a:latin typeface="Roboto"/>
              </a:rPr>
              <a:t>environment before production activation.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10261600"/>
            <a:ext cx="2773679" cy="927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7" sz="750">
                <a:solidFill>
                  <a:srgbClr val="000000"/>
                </a:solidFill>
                <a:latin typeface="Roboto"/>
              </a:rPr>
              <a:t>Auto Ticket Classification using Flow Designer – Milestone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5109" y="10261600"/>
            <a:ext cx="317500" cy="927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2" sz="750">
                <a:solidFill>
                  <a:srgbClr val="000000"/>
                </a:solidFill>
                <a:latin typeface="Roboto"/>
              </a:rPr>
              <a:t>Page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6290" y="769620"/>
            <a:ext cx="2829560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9" b="1" sz="1500">
                <a:solidFill>
                  <a:srgbClr val="000000"/>
                </a:solidFill>
                <a:latin typeface="Roboto"/>
              </a:rPr>
              <a:t>MILESTONE 4 – ACTIVITY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6290" y="1090930"/>
            <a:ext cx="364617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1" b="1" sz="1200">
                <a:solidFill>
                  <a:srgbClr val="000000"/>
                </a:solidFill>
                <a:latin typeface="Roboto"/>
              </a:rPr>
              <a:t>Test Scenario 1 – Valid Ticket / Rule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6290" y="1348740"/>
            <a:ext cx="5935980" cy="115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6" sz="900">
                <a:solidFill>
                  <a:srgbClr val="000000"/>
                </a:solidFill>
                <a:latin typeface="Roboto"/>
              </a:rPr>
              <a:t>Purpose: confirm that a ticket matching a defined classification rule is automatically classified and the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6290" y="1517650"/>
            <a:ext cx="2023110" cy="115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0" sz="900">
                <a:solidFill>
                  <a:srgbClr val="000000"/>
                </a:solidFill>
                <a:latin typeface="Roboto"/>
              </a:rPr>
              <a:t>expected notification is generated.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10260" y="1722120"/>
          <a:ext cx="5939790" cy="20802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39790"/>
              </a:tblGrid>
              <a:tr h="266700">
                <a:tc>
                  <a:txBody>
                    <a:bodyPr/>
                    <a:lstStyle/>
                    <a:p>
                      <a:pPr>
                        <a:lnSpc>
                          <a:spcPts val="660"/>
                        </a:lnSpc>
                      </a:pPr>
                    </a:p>
                    <a:p>
                      <a:pPr algn="ctr">
                        <a:lnSpc>
                          <a:spcPts val="819"/>
                        </a:lnSpc>
                      </a:pPr>
                      <a:r>
                        <a:rPr spc="99" b="1" sz="800">
                          <a:solidFill>
                            <a:srgbClr val="000000"/>
                          </a:solidFill>
                          <a:latin typeface="Roboto"/>
                        </a:rPr>
                        <a:t>PICTURE VIEW – TEST SCENARIO 1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solidFill>
                      <a:srgbClr val="e8edf6">
                        <a:alpha val="100000"/>
                      </a:srgbClr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83820" algn="l">
                        <a:lnSpc>
                          <a:spcPts val="770"/>
                        </a:lnSpc>
                      </a:pPr>
                      <a:r>
                        <a:rPr spc="55" sz="750">
                          <a:solidFill>
                            <a:srgbClr val="000000"/>
                          </a:solidFill>
                          <a:latin typeface="Roboto"/>
                        </a:rPr>
                        <a:t>1 Create a test Auto Ticket record.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83820" algn="l">
                        <a:lnSpc>
                          <a:spcPts val="770"/>
                        </a:lnSpc>
                      </a:pPr>
                      <a:r>
                        <a:rPr spc="59" sz="750">
                          <a:solidFill>
                            <a:srgbClr val="000000"/>
                          </a:solidFill>
                          <a:latin typeface="Roboto"/>
                        </a:rPr>
                        <a:t>2 Enter a Category/Subcategory or other input that is known to match Rule 1.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83820" algn="l">
                        <a:lnSpc>
                          <a:spcPts val="770"/>
                        </a:lnSpc>
                      </a:pPr>
                      <a:r>
                        <a:rPr spc="58" sz="750">
                          <a:solidFill>
                            <a:srgbClr val="000000"/>
                          </a:solidFill>
                          <a:latin typeface="Roboto"/>
                        </a:rPr>
                        <a:t>3 Save the ticket and allow the Flow Designer flow to execute.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59079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83820" algn="l">
                        <a:lnSpc>
                          <a:spcPts val="770"/>
                        </a:lnSpc>
                      </a:pPr>
                      <a:r>
                        <a:rPr spc="49" sz="750">
                          <a:solidFill>
                            <a:srgbClr val="000000"/>
                          </a:solidFill>
                          <a:latin typeface="Roboto"/>
                        </a:rPr>
                        <a:t>4 Check the ticket's Classification field.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83820" algn="l">
                        <a:lnSpc>
                          <a:spcPts val="770"/>
                        </a:lnSpc>
                      </a:pPr>
                      <a:r>
                        <a:rPr spc="56" sz="750">
                          <a:solidFill>
                            <a:srgbClr val="000000"/>
                          </a:solidFill>
                          <a:latin typeface="Roboto"/>
                        </a:rPr>
                        <a:t>5 Check Flow Designer execution details.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59079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83820" algn="l">
                        <a:lnSpc>
                          <a:spcPts val="770"/>
                        </a:lnSpc>
                      </a:pPr>
                      <a:r>
                        <a:rPr spc="57" sz="750">
                          <a:solidFill>
                            <a:srgbClr val="000000"/>
                          </a:solidFill>
                          <a:latin typeface="Roboto"/>
                        </a:rPr>
                        <a:t>6 Check the configured test email recipient.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59079"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83820" algn="l">
                        <a:lnSpc>
                          <a:spcPts val="770"/>
                        </a:lnSpc>
                      </a:pPr>
                      <a:r>
                        <a:rPr spc="48" sz="750">
                          <a:solidFill>
                            <a:srgbClr val="000000"/>
                          </a:solidFill>
                          <a:latin typeface="Roboto"/>
                        </a:rPr>
                        <a:t>7 Record Actual Result and Pass/Fail status.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6290" y="4017010"/>
            <a:ext cx="25273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5" b="1" sz="1200">
                <a:solidFill>
                  <a:srgbClr val="000000"/>
                </a:solidFill>
                <a:latin typeface="Roboto"/>
              </a:rPr>
              <a:t>Action 1 – Execute Scenario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190" y="4273550"/>
            <a:ext cx="4512310" cy="1104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4" sz="850">
                <a:solidFill>
                  <a:srgbClr val="000000"/>
                </a:solidFill>
                <a:latin typeface="Roboto"/>
              </a:rPr>
              <a:t>1. Create test data — Use a clearly identifiable test ticket, for example TEST-001.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190" y="4467860"/>
            <a:ext cx="5605780" cy="1104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9" sz="850">
                <a:solidFill>
                  <a:srgbClr val="000000"/>
                </a:solidFill>
                <a:latin typeface="Roboto"/>
              </a:rPr>
              <a:t>2. Enter matching values — Select the Category/Subcategory or text values required by an approved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190" y="4624070"/>
            <a:ext cx="999490" cy="1104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sz="850">
                <a:solidFill>
                  <a:srgbClr val="000000"/>
                </a:solidFill>
                <a:latin typeface="Roboto"/>
              </a:rPr>
              <a:t>classification rule.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190" y="4818380"/>
            <a:ext cx="3351530" cy="1104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7" sz="850">
                <a:solidFill>
                  <a:srgbClr val="000000"/>
                </a:solidFill>
                <a:latin typeface="Roboto"/>
              </a:rPr>
              <a:t>3. Save the ticket — Save and allow the automation to start.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190" y="5012690"/>
            <a:ext cx="4447540" cy="1104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0" sz="850">
                <a:solidFill>
                  <a:srgbClr val="000000"/>
                </a:solidFill>
                <a:latin typeface="Roboto"/>
              </a:rPr>
              <a:t>4. Check classification — Verify that the expected Classification value is written.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190" y="5207000"/>
            <a:ext cx="5335270" cy="1104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6" sz="850">
                <a:solidFill>
                  <a:srgbClr val="000000"/>
                </a:solidFill>
                <a:latin typeface="Roboto"/>
              </a:rPr>
              <a:t>5. Check execution — Open Flow Designer execution details and confirm the trigger and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190" y="5363210"/>
            <a:ext cx="1324610" cy="1104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5" sz="850">
                <a:solidFill>
                  <a:srgbClr val="000000"/>
                </a:solidFill>
                <a:latin typeface="Roboto"/>
              </a:rPr>
              <a:t>completed successfully.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90" y="5557520"/>
            <a:ext cx="5748020" cy="1104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4" sz="850">
                <a:solidFill>
                  <a:srgbClr val="000000"/>
                </a:solidFill>
                <a:latin typeface="Roboto"/>
              </a:rPr>
              <a:t>6. Check email — Verify the expected test notification was generated/queued according to the instance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190" y="5713730"/>
            <a:ext cx="768349" cy="1104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6" sz="850">
                <a:solidFill>
                  <a:srgbClr val="000000"/>
                </a:solidFill>
                <a:latin typeface="Roboto"/>
              </a:rPr>
              <a:t>configuration.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190" y="5908040"/>
            <a:ext cx="5297170" cy="1104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2" sz="850">
                <a:solidFill>
                  <a:srgbClr val="000000"/>
                </a:solidFill>
                <a:latin typeface="Roboto"/>
              </a:rPr>
              <a:t>7. Record result — Mark Pass if all expected outcomes are correct; otherwise record the defect.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6290" y="6163310"/>
            <a:ext cx="134619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8" b="1" sz="1200">
                <a:solidFill>
                  <a:srgbClr val="000000"/>
                </a:solidFill>
                <a:latin typeface="Roboto"/>
              </a:rPr>
              <a:t>Expected result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810260" y="6393180"/>
          <a:ext cx="5939789" cy="50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7450"/>
                <a:gridCol w="1188720"/>
                <a:gridCol w="1187449"/>
                <a:gridCol w="1188720"/>
                <a:gridCol w="1187450"/>
              </a:tblGrid>
              <a:tr h="508000"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</a:pPr>
                    </a:p>
                    <a:p>
                      <a:pPr algn="ctr">
                        <a:lnSpc>
                          <a:spcPts val="819"/>
                        </a:lnSpc>
                      </a:pPr>
                      <a:r>
                        <a:rPr spc="109" b="1" sz="800">
                          <a:solidFill>
                            <a:srgbClr val="000000"/>
                          </a:solidFill>
                          <a:latin typeface="Roboto"/>
                        </a:rPr>
                        <a:t>TEST-001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</a:pPr>
                    </a:p>
                    <a:p>
                      <a:pPr algn="ctr">
                        <a:lnSpc>
                          <a:spcPts val="819"/>
                        </a:lnSpc>
                      </a:pPr>
                      <a:r>
                        <a:rPr spc="116" b="1" sz="800">
                          <a:solidFill>
                            <a:srgbClr val="000000"/>
                          </a:solidFill>
                          <a:latin typeface="Roboto"/>
                        </a:rPr>
                        <a:t>Rule Match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80"/>
                        </a:lnSpc>
                      </a:pPr>
                    </a:p>
                    <a:p>
                      <a:pPr algn="ctr">
                        <a:lnSpc>
                          <a:spcPts val="1100"/>
                        </a:lnSpc>
                      </a:pPr>
                      <a:r>
                        <a:rPr spc="112" b="1" sz="800">
                          <a:solidFill>
                            <a:srgbClr val="000000"/>
                          </a:solidFill>
                          <a:latin typeface="Roboto"/>
                        </a:rPr>
                        <a:t>Correct</a:t>
                      </a:r>
                      <a:br/>
                      <a:r>
                        <a:rPr spc="95" b="1" sz="800">
                          <a:solidFill>
                            <a:srgbClr val="000000"/>
                          </a:solidFill>
                          <a:latin typeface="Roboto"/>
                        </a:rPr>
                        <a:t>Classification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</a:pPr>
                    </a:p>
                    <a:p>
                      <a:pPr algn="ctr">
                        <a:lnSpc>
                          <a:spcPts val="819"/>
                        </a:lnSpc>
                      </a:pPr>
                      <a:r>
                        <a:rPr spc="109" b="1" sz="800">
                          <a:solidFill>
                            <a:srgbClr val="000000"/>
                          </a:solidFill>
                          <a:latin typeface="Roboto"/>
                        </a:rPr>
                        <a:t>Email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80"/>
                        </a:lnSpc>
                      </a:pPr>
                    </a:p>
                    <a:p>
                      <a:pPr algn="ctr">
                        <a:lnSpc>
                          <a:spcPts val="1100"/>
                        </a:lnSpc>
                      </a:pPr>
                      <a:r>
                        <a:rPr spc="91" b="1" sz="800">
                          <a:solidFill>
                            <a:srgbClr val="000000"/>
                          </a:solidFill>
                          <a:latin typeface="Roboto"/>
                        </a:rPr>
                        <a:t>PASS/FAIL</a:t>
                      </a:r>
                      <a:br/>
                      <a:r>
                        <a:rPr spc="119" b="1" sz="800">
                          <a:solidFill>
                            <a:srgbClr val="000000"/>
                          </a:solidFill>
                          <a:latin typeface="Roboto"/>
                        </a:rPr>
                        <a:t>Record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47700" y="10261600"/>
            <a:ext cx="2773679" cy="927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7" sz="750">
                <a:solidFill>
                  <a:srgbClr val="000000"/>
                </a:solidFill>
                <a:latin typeface="Roboto"/>
              </a:rPr>
              <a:t>Auto Ticket Classification using Flow Designer – Milestone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5109" y="10261600"/>
            <a:ext cx="317500" cy="927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2" sz="750">
                <a:solidFill>
                  <a:srgbClr val="000000"/>
                </a:solidFill>
                <a:latin typeface="Roboto"/>
              </a:rPr>
              <a:t>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6290" y="769620"/>
            <a:ext cx="2829560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9" b="1" sz="1500">
                <a:solidFill>
                  <a:srgbClr val="000000"/>
                </a:solidFill>
                <a:latin typeface="Roboto"/>
              </a:rPr>
              <a:t>MILESTONE 4 – ACTIVITY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6290" y="1090930"/>
            <a:ext cx="43586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2" b="1" sz="1200">
                <a:solidFill>
                  <a:srgbClr val="000000"/>
                </a:solidFill>
                <a:latin typeface="Roboto"/>
              </a:rPr>
              <a:t>Test Scenario 2 – Different Rule / Category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6290" y="1348740"/>
            <a:ext cx="5963920" cy="115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6" sz="900">
                <a:solidFill>
                  <a:srgbClr val="000000"/>
                </a:solidFill>
                <a:latin typeface="Roboto"/>
              </a:rPr>
              <a:t>Purpose: verify that a different ticket condition produces the correct classification and that Category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6290" y="1517650"/>
            <a:ext cx="2588260" cy="115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7" sz="900">
                <a:solidFill>
                  <a:srgbClr val="000000"/>
                </a:solidFill>
                <a:latin typeface="Roboto"/>
              </a:rPr>
              <a:t>Subcategory dependency behaves correctly.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10260" y="1722120"/>
          <a:ext cx="5939790" cy="20802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39790"/>
              </a:tblGrid>
              <a:tr h="266700">
                <a:tc>
                  <a:txBody>
                    <a:bodyPr/>
                    <a:lstStyle/>
                    <a:p>
                      <a:pPr>
                        <a:lnSpc>
                          <a:spcPts val="660"/>
                        </a:lnSpc>
                      </a:pPr>
                    </a:p>
                    <a:p>
                      <a:pPr algn="ctr">
                        <a:lnSpc>
                          <a:spcPts val="819"/>
                        </a:lnSpc>
                      </a:pPr>
                      <a:r>
                        <a:rPr spc="99" b="1" sz="800">
                          <a:solidFill>
                            <a:srgbClr val="000000"/>
                          </a:solidFill>
                          <a:latin typeface="Roboto"/>
                        </a:rPr>
                        <a:t>PICTURE VIEW – TEST SCENARIO 2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solidFill>
                      <a:srgbClr val="e8edf6">
                        <a:alpha val="100000"/>
                      </a:srgbClr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83820" algn="l">
                        <a:lnSpc>
                          <a:spcPts val="770"/>
                        </a:lnSpc>
                      </a:pPr>
                      <a:r>
                        <a:rPr spc="56" sz="750">
                          <a:solidFill>
                            <a:srgbClr val="000000"/>
                          </a:solidFill>
                          <a:latin typeface="Roboto"/>
                        </a:rPr>
                        <a:t>1 Create a second test ticket.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83820" algn="l">
                        <a:lnSpc>
                          <a:spcPts val="770"/>
                        </a:lnSpc>
                      </a:pPr>
                      <a:r>
                        <a:rPr spc="56" sz="750">
                          <a:solidFill>
                            <a:srgbClr val="000000"/>
                          </a:solidFill>
                          <a:latin typeface="Roboto"/>
                        </a:rPr>
                        <a:t>2 Select a different Category from Scenario 1.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83820" algn="l">
                        <a:lnSpc>
                          <a:spcPts val="770"/>
                        </a:lnSpc>
                      </a:pPr>
                      <a:r>
                        <a:rPr spc="59" sz="750">
                          <a:solidFill>
                            <a:srgbClr val="000000"/>
                          </a:solidFill>
                          <a:latin typeface="Roboto"/>
                        </a:rPr>
                        <a:t>3 Verify that only valid dependent Subcategory choices are available.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59079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83820" algn="l">
                        <a:lnSpc>
                          <a:spcPts val="770"/>
                        </a:lnSpc>
                      </a:pPr>
                      <a:r>
                        <a:rPr spc="61" sz="750">
                          <a:solidFill>
                            <a:srgbClr val="000000"/>
                          </a:solidFill>
                          <a:latin typeface="Roboto"/>
                        </a:rPr>
                        <a:t>4 Select the required Subcategory and save.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83820" algn="l">
                        <a:lnSpc>
                          <a:spcPts val="770"/>
                        </a:lnSpc>
                      </a:pPr>
                      <a:r>
                        <a:rPr spc="50" sz="750">
                          <a:solidFill>
                            <a:srgbClr val="000000"/>
                          </a:solidFill>
                          <a:latin typeface="Roboto"/>
                        </a:rPr>
                        <a:t>5 Confirm the flow selects the correct second classification rule.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59079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83820" algn="l">
                        <a:lnSpc>
                          <a:spcPts val="770"/>
                        </a:lnSpc>
                      </a:pPr>
                      <a:r>
                        <a:rPr spc="54" sz="750">
                          <a:solidFill>
                            <a:srgbClr val="000000"/>
                          </a:solidFill>
                          <a:latin typeface="Roboto"/>
                        </a:rPr>
                        <a:t>6 Verify the ticket record and notification.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59079"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83820" algn="l">
                        <a:lnSpc>
                          <a:spcPts val="770"/>
                        </a:lnSpc>
                      </a:pPr>
                      <a:r>
                        <a:rPr spc="52" sz="750">
                          <a:solidFill>
                            <a:srgbClr val="000000"/>
                          </a:solidFill>
                          <a:latin typeface="Roboto"/>
                        </a:rPr>
                        <a:t>7 Review execution details and record Pass/Fail.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6290" y="4017010"/>
            <a:ext cx="25273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5" b="1" sz="1200">
                <a:solidFill>
                  <a:srgbClr val="000000"/>
                </a:solidFill>
                <a:latin typeface="Roboto"/>
              </a:rPr>
              <a:t>Action 2 – Execute Scenario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190" y="4273550"/>
            <a:ext cx="3883660" cy="1104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5" sz="850">
                <a:solidFill>
                  <a:srgbClr val="000000"/>
                </a:solidFill>
                <a:latin typeface="Roboto"/>
              </a:rPr>
              <a:t>1. Create test data — Use a second test ticket, for example TEST-002.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190" y="4467860"/>
            <a:ext cx="4833620" cy="1104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5" sz="850">
                <a:solidFill>
                  <a:srgbClr val="000000"/>
                </a:solidFill>
                <a:latin typeface="Roboto"/>
              </a:rPr>
              <a:t>2. Change Category — Select a Category that is intentionally different from Scenario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190" y="4662170"/>
            <a:ext cx="5593080" cy="1104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4" sz="850">
                <a:solidFill>
                  <a:srgbClr val="000000"/>
                </a:solidFill>
                <a:latin typeface="Roboto"/>
              </a:rPr>
              <a:t>3. Validate dependency — Confirm the Subcategory list changes to the valid choices for the selected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190" y="4818380"/>
            <a:ext cx="539750" cy="1104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9" sz="850">
                <a:solidFill>
                  <a:srgbClr val="000000"/>
                </a:solidFill>
                <a:latin typeface="Roboto"/>
              </a:rPr>
              <a:t>Category.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190" y="5012690"/>
            <a:ext cx="3655060" cy="1104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9" sz="850">
                <a:solidFill>
                  <a:srgbClr val="000000"/>
                </a:solidFill>
                <a:latin typeface="Roboto"/>
              </a:rPr>
              <a:t>4. Save — Select an appropriate Subcategory and save the ticket.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190" y="5207000"/>
            <a:ext cx="5382260" cy="1104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0" sz="850">
                <a:solidFill>
                  <a:srgbClr val="000000"/>
                </a:solidFill>
                <a:latin typeface="Roboto"/>
              </a:rPr>
              <a:t>5. Verify classification — Confirm the second approved rule produces the expected classification.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190" y="5401310"/>
            <a:ext cx="4573270" cy="1104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9" sz="850">
                <a:solidFill>
                  <a:srgbClr val="000000"/>
                </a:solidFill>
                <a:latin typeface="Roboto"/>
              </a:rPr>
              <a:t>6. Verify email — Check the expected notification and its ticket/classification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90" y="5595620"/>
            <a:ext cx="4268470" cy="1104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2" sz="850">
                <a:solidFill>
                  <a:srgbClr val="000000"/>
                </a:solidFill>
                <a:latin typeface="Roboto"/>
              </a:rPr>
              <a:t>7. Review execution — Confirm there are no flow errors and record Pass/Fail.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6290" y="5850890"/>
            <a:ext cx="134619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8" b="1" sz="1200">
                <a:solidFill>
                  <a:srgbClr val="000000"/>
                </a:solidFill>
                <a:latin typeface="Roboto"/>
              </a:rPr>
              <a:t>Expected result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10260" y="6080760"/>
          <a:ext cx="5939789" cy="5079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7450"/>
                <a:gridCol w="1188720"/>
                <a:gridCol w="1187449"/>
                <a:gridCol w="1188720"/>
                <a:gridCol w="1187450"/>
              </a:tblGrid>
              <a:tr h="507999"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</a:pPr>
                    </a:p>
                    <a:p>
                      <a:pPr algn="ctr">
                        <a:lnSpc>
                          <a:spcPts val="819"/>
                        </a:lnSpc>
                      </a:pPr>
                      <a:r>
                        <a:rPr spc="109" b="1" sz="800">
                          <a:solidFill>
                            <a:srgbClr val="000000"/>
                          </a:solidFill>
                          <a:latin typeface="Roboto"/>
                        </a:rPr>
                        <a:t>TEST-002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</a:pPr>
                    </a:p>
                    <a:p>
                      <a:pPr algn="ctr">
                        <a:lnSpc>
                          <a:spcPts val="819"/>
                        </a:lnSpc>
                      </a:pPr>
                      <a:r>
                        <a:rPr spc="117" b="1" sz="800">
                          <a:solidFill>
                            <a:srgbClr val="000000"/>
                          </a:solidFill>
                          <a:latin typeface="Roboto"/>
                        </a:rPr>
                        <a:t>Different Rule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80"/>
                        </a:lnSpc>
                      </a:pPr>
                    </a:p>
                    <a:p>
                      <a:pPr algn="ctr">
                        <a:lnSpc>
                          <a:spcPts val="1100"/>
                        </a:lnSpc>
                      </a:pPr>
                      <a:r>
                        <a:rPr spc="112" b="1" sz="800">
                          <a:solidFill>
                            <a:srgbClr val="000000"/>
                          </a:solidFill>
                          <a:latin typeface="Roboto"/>
                        </a:rPr>
                        <a:t>Correct</a:t>
                      </a:r>
                      <a:br/>
                      <a:r>
                        <a:rPr spc="95" b="1" sz="800">
                          <a:solidFill>
                            <a:srgbClr val="000000"/>
                          </a:solidFill>
                          <a:latin typeface="Roboto"/>
                        </a:rPr>
                        <a:t>Classification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80"/>
                        </a:lnSpc>
                      </a:pPr>
                    </a:p>
                    <a:p>
                      <a:pPr algn="ctr">
                        <a:lnSpc>
                          <a:spcPts val="1100"/>
                        </a:lnSpc>
                      </a:pPr>
                      <a:r>
                        <a:rPr spc="112" b="1" sz="800">
                          <a:solidFill>
                            <a:srgbClr val="000000"/>
                          </a:solidFill>
                          <a:latin typeface="Roboto"/>
                        </a:rPr>
                        <a:t>Correct</a:t>
                      </a:r>
                      <a:br/>
                      <a:r>
                        <a:rPr spc="125" b="1" sz="800">
                          <a:solidFill>
                            <a:srgbClr val="000000"/>
                          </a:solidFill>
                          <a:latin typeface="Roboto"/>
                        </a:rPr>
                        <a:t>Subcategory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</a:pPr>
                    </a:p>
                    <a:p>
                      <a:pPr algn="ctr">
                        <a:lnSpc>
                          <a:spcPts val="819"/>
                        </a:lnSpc>
                      </a:pPr>
                      <a:r>
                        <a:rPr spc="109" b="1" sz="800">
                          <a:solidFill>
                            <a:srgbClr val="000000"/>
                          </a:solidFill>
                          <a:latin typeface="Roboto"/>
                        </a:rPr>
                        <a:t>Email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47700" y="10261600"/>
            <a:ext cx="2773679" cy="927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7" sz="750">
                <a:solidFill>
                  <a:srgbClr val="000000"/>
                </a:solidFill>
                <a:latin typeface="Roboto"/>
              </a:rPr>
              <a:t>Auto Ticket Classification using Flow Designer – Milestone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5109" y="10261600"/>
            <a:ext cx="317500" cy="927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2" sz="750">
                <a:solidFill>
                  <a:srgbClr val="000000"/>
                </a:solidFill>
                <a:latin typeface="Roboto"/>
              </a:rPr>
              <a:t>Page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6290" y="769620"/>
            <a:ext cx="2829560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9" b="1" sz="1500">
                <a:solidFill>
                  <a:srgbClr val="000000"/>
                </a:solidFill>
                <a:latin typeface="Roboto"/>
              </a:rPr>
              <a:t>MILESTONE 4 – ACTIVITY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6290" y="1090930"/>
            <a:ext cx="42608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4" b="1" sz="1200">
                <a:solidFill>
                  <a:srgbClr val="000000"/>
                </a:solidFill>
                <a:latin typeface="Roboto"/>
              </a:rPr>
              <a:t>Test Scenario 3 – No Match, Validation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6290" y="1348740"/>
            <a:ext cx="5969000" cy="115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6" sz="900">
                <a:solidFill>
                  <a:srgbClr val="000000"/>
                </a:solidFill>
                <a:latin typeface="Roboto"/>
              </a:rPr>
              <a:t>Purpose: verify the fallback path for an unclassified ticket and perform basic validation/security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6290" y="1517650"/>
            <a:ext cx="1139190" cy="115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7" sz="900">
                <a:solidFill>
                  <a:srgbClr val="000000"/>
                </a:solidFill>
                <a:latin typeface="Roboto"/>
              </a:rPr>
              <a:t>before deployment.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10260" y="1722120"/>
          <a:ext cx="5939790" cy="20802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39790"/>
              </a:tblGrid>
              <a:tr h="266700">
                <a:tc>
                  <a:txBody>
                    <a:bodyPr/>
                    <a:lstStyle/>
                    <a:p>
                      <a:pPr>
                        <a:lnSpc>
                          <a:spcPts val="660"/>
                        </a:lnSpc>
                      </a:pPr>
                    </a:p>
                    <a:p>
                      <a:pPr algn="ctr">
                        <a:lnSpc>
                          <a:spcPts val="819"/>
                        </a:lnSpc>
                      </a:pPr>
                      <a:r>
                        <a:rPr spc="99" b="1" sz="800">
                          <a:solidFill>
                            <a:srgbClr val="000000"/>
                          </a:solidFill>
                          <a:latin typeface="Roboto"/>
                        </a:rPr>
                        <a:t>PICTURE VIEW – TEST SCENARIO 3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solidFill>
                      <a:srgbClr val="e8edf6">
                        <a:alpha val="100000"/>
                      </a:srgbClr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83820" algn="l">
                        <a:lnSpc>
                          <a:spcPts val="770"/>
                        </a:lnSpc>
                      </a:pPr>
                      <a:r>
                        <a:rPr spc="54" sz="750">
                          <a:solidFill>
                            <a:srgbClr val="000000"/>
                          </a:solidFill>
                          <a:latin typeface="Roboto"/>
                        </a:rPr>
                        <a:t>1 Create a third test ticket that intentionally matches no classification rule.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83820" algn="l">
                        <a:lnSpc>
                          <a:spcPts val="770"/>
                        </a:lnSpc>
                      </a:pPr>
                      <a:r>
                        <a:rPr spc="58" sz="750">
                          <a:solidFill>
                            <a:srgbClr val="000000"/>
                          </a:solidFill>
                          <a:latin typeface="Roboto"/>
                        </a:rPr>
                        <a:t>2 Save the ticket and allow the flow to execute.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83820" algn="l">
                        <a:lnSpc>
                          <a:spcPts val="770"/>
                        </a:lnSpc>
                      </a:pPr>
                      <a:r>
                        <a:rPr spc="56" sz="750">
                          <a:solidFill>
                            <a:srgbClr val="000000"/>
                          </a:solidFill>
                          <a:latin typeface="Roboto"/>
                        </a:rPr>
                        <a:t>3 Verify the configured fallback behavior.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59079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83820" algn="l">
                        <a:lnSpc>
                          <a:spcPts val="770"/>
                        </a:lnSpc>
                      </a:pPr>
                      <a:r>
                        <a:rPr spc="47" sz="750">
                          <a:solidFill>
                            <a:srgbClr val="000000"/>
                          </a:solidFill>
                          <a:latin typeface="Roboto"/>
                        </a:rPr>
                        <a:t>4 Confirm no incorrect classification is assigned.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83820" algn="l">
                        <a:lnSpc>
                          <a:spcPts val="770"/>
                        </a:lnSpc>
                      </a:pPr>
                      <a:r>
                        <a:rPr spc="57" sz="750">
                          <a:solidFill>
                            <a:srgbClr val="000000"/>
                          </a:solidFill>
                          <a:latin typeface="Roboto"/>
                        </a:rPr>
                        <a:t>5 Check whether notification is sent only when the requirement says it should be.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59079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83820" algn="l">
                        <a:lnSpc>
                          <a:spcPts val="770"/>
                        </a:lnSpc>
                      </a:pPr>
                      <a:r>
                        <a:rPr spc="56" sz="750">
                          <a:solidFill>
                            <a:srgbClr val="000000"/>
                          </a:solidFill>
                          <a:latin typeface="Roboto"/>
                        </a:rPr>
                        <a:t>6 Verify users without required roles cannot change protected configuration.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59079"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83820" algn="l">
                        <a:lnSpc>
                          <a:spcPts val="770"/>
                        </a:lnSpc>
                      </a:pPr>
                      <a:r>
                        <a:rPr spc="56" sz="750">
                          <a:solidFill>
                            <a:srgbClr val="000000"/>
                          </a:solidFill>
                          <a:latin typeface="Roboto"/>
                        </a:rPr>
                        <a:t>7 Review execution details, access and audit information.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6290" y="4017010"/>
            <a:ext cx="34772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3" b="1" sz="1200">
                <a:solidFill>
                  <a:srgbClr val="000000"/>
                </a:solidFill>
                <a:latin typeface="Roboto"/>
              </a:rPr>
              <a:t>Action 3 – Fallback + Security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190" y="4273550"/>
            <a:ext cx="5864860" cy="1104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5" sz="850">
                <a:solidFill>
                  <a:srgbClr val="000000"/>
                </a:solidFill>
                <a:latin typeface="Roboto"/>
              </a:rPr>
              <a:t>1. Create test data — Use a third test ticket, for example TEST-003, with values outside the defined rules.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190" y="4467860"/>
            <a:ext cx="3554730" cy="1104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7" sz="850">
                <a:solidFill>
                  <a:srgbClr val="000000"/>
                </a:solidFill>
                <a:latin typeface="Roboto"/>
              </a:rPr>
              <a:t>2. Run the flow — Save the ticket and allow the flow to execute.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190" y="4662170"/>
            <a:ext cx="5539740" cy="1104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3" sz="850">
                <a:solidFill>
                  <a:srgbClr val="000000"/>
                </a:solidFill>
                <a:latin typeface="Roboto"/>
              </a:rPr>
              <a:t>3. Verify fallback — Confirm the approved fallback: default classification, manual review, or another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190" y="4818380"/>
            <a:ext cx="1250949" cy="1104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0" sz="850">
                <a:solidFill>
                  <a:srgbClr val="000000"/>
                </a:solidFill>
                <a:latin typeface="Roboto"/>
              </a:rPr>
              <a:t>documented behavior.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190" y="5012690"/>
            <a:ext cx="5480050" cy="1104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6" sz="850">
                <a:solidFill>
                  <a:srgbClr val="000000"/>
                </a:solidFill>
                <a:latin typeface="Roboto"/>
              </a:rPr>
              <a:t>4. Check notification — Verify that email behavior matches the project requirement for unmatched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190" y="5168900"/>
            <a:ext cx="402590" cy="1104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2" sz="850">
                <a:solidFill>
                  <a:srgbClr val="000000"/>
                </a:solidFill>
                <a:latin typeface="Roboto"/>
              </a:rPr>
              <a:t>tickets.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190" y="5363210"/>
            <a:ext cx="5270500" cy="1104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9" sz="850">
                <a:solidFill>
                  <a:srgbClr val="000000"/>
                </a:solidFill>
                <a:latin typeface="Roboto"/>
              </a:rPr>
              <a:t>5. Check access — Confirm only authorized roles/users can configure the table, fields and flow.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90" y="5557520"/>
            <a:ext cx="5535930" cy="1104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3" sz="850">
                <a:solidFill>
                  <a:srgbClr val="000000"/>
                </a:solidFill>
                <a:latin typeface="Roboto"/>
              </a:rPr>
              <a:t>6. Check data exposure — Ensure test email/content does not unnecessarily expose sensitive ticket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190" y="5713730"/>
            <a:ext cx="674369" cy="1104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7" sz="850">
                <a:solidFill>
                  <a:srgbClr val="000000"/>
                </a:solidFill>
                <a:latin typeface="Roboto"/>
              </a:rPr>
              <a:t>information.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190" y="5908040"/>
            <a:ext cx="5734050" cy="1104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3" sz="850">
                <a:solidFill>
                  <a:srgbClr val="000000"/>
                </a:solidFill>
                <a:latin typeface="Roboto"/>
              </a:rPr>
              <a:t>7. Review execution and audit — Check flow execution details and applicable audit/history information.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190" y="6102350"/>
            <a:ext cx="4178300" cy="1104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2" sz="850">
                <a:solidFill>
                  <a:srgbClr val="000000"/>
                </a:solidFill>
                <a:latin typeface="Roboto"/>
              </a:rPr>
              <a:t>8. Record result — Document Pass/Fail and any defect requiring correction.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6290" y="6357620"/>
            <a:ext cx="134619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8" b="1" sz="1200">
                <a:solidFill>
                  <a:srgbClr val="000000"/>
                </a:solidFill>
                <a:latin typeface="Roboto"/>
              </a:rPr>
              <a:t>Expected result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810260" y="6587490"/>
          <a:ext cx="5939789" cy="50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7450"/>
                <a:gridCol w="1188720"/>
                <a:gridCol w="1187449"/>
                <a:gridCol w="1188720"/>
                <a:gridCol w="1187450"/>
              </a:tblGrid>
              <a:tr h="508000"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</a:pPr>
                    </a:p>
                    <a:p>
                      <a:pPr algn="ctr">
                        <a:lnSpc>
                          <a:spcPts val="819"/>
                        </a:lnSpc>
                      </a:pPr>
                      <a:r>
                        <a:rPr spc="109" b="1" sz="800">
                          <a:solidFill>
                            <a:srgbClr val="000000"/>
                          </a:solidFill>
                          <a:latin typeface="Roboto"/>
                        </a:rPr>
                        <a:t>TEST-003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</a:pPr>
                    </a:p>
                    <a:p>
                      <a:pPr algn="ctr">
                        <a:lnSpc>
                          <a:spcPts val="819"/>
                        </a:lnSpc>
                      </a:pPr>
                      <a:r>
                        <a:rPr spc="112" b="1" sz="800">
                          <a:solidFill>
                            <a:srgbClr val="000000"/>
                          </a:solidFill>
                          <a:latin typeface="Roboto"/>
                        </a:rPr>
                        <a:t>No Rule Match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</a:pPr>
                    </a:p>
                    <a:p>
                      <a:pPr algn="ctr">
                        <a:lnSpc>
                          <a:spcPts val="819"/>
                        </a:lnSpc>
                      </a:pPr>
                      <a:r>
                        <a:rPr spc="108" b="1" sz="800">
                          <a:solidFill>
                            <a:srgbClr val="000000"/>
                          </a:solidFill>
                          <a:latin typeface="Roboto"/>
                        </a:rPr>
                        <a:t>Safe Fallback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80"/>
                        </a:lnSpc>
                      </a:pPr>
                    </a:p>
                    <a:p>
                      <a:pPr algn="ctr">
                        <a:lnSpc>
                          <a:spcPts val="1100"/>
                        </a:lnSpc>
                      </a:pPr>
                      <a:r>
                        <a:rPr spc="112" b="1" sz="800">
                          <a:solidFill>
                            <a:srgbClr val="000000"/>
                          </a:solidFill>
                          <a:latin typeface="Roboto"/>
                        </a:rPr>
                        <a:t>Correct</a:t>
                      </a:r>
                      <a:br/>
                      <a:r>
                        <a:rPr spc="104" b="1" sz="800">
                          <a:solidFill>
                            <a:srgbClr val="000000"/>
                          </a:solidFill>
                          <a:latin typeface="Roboto"/>
                        </a:rPr>
                        <a:t>Notification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80"/>
                        </a:lnSpc>
                      </a:pPr>
                    </a:p>
                    <a:p>
                      <a:pPr algn="ctr">
                        <a:lnSpc>
                          <a:spcPts val="1100"/>
                        </a:lnSpc>
                      </a:pPr>
                      <a:r>
                        <a:rPr spc="120" b="1" sz="800">
                          <a:solidFill>
                            <a:srgbClr val="000000"/>
                          </a:solidFill>
                          <a:latin typeface="Roboto"/>
                        </a:rPr>
                        <a:t>Security</a:t>
                      </a:r>
                      <a:br/>
                      <a:r>
                        <a:rPr spc="91" b="1" sz="800">
                          <a:solidFill>
                            <a:srgbClr val="000000"/>
                          </a:solidFill>
                          <a:latin typeface="Roboto"/>
                        </a:rPr>
                        <a:t>PASS/FAIL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47700" y="10261600"/>
            <a:ext cx="2773679" cy="927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7" sz="750">
                <a:solidFill>
                  <a:srgbClr val="000000"/>
                </a:solidFill>
                <a:latin typeface="Roboto"/>
              </a:rPr>
              <a:t>Auto Ticket Classification using Flow Designer – Milestone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5109" y="10261600"/>
            <a:ext cx="317500" cy="927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2" sz="750">
                <a:solidFill>
                  <a:srgbClr val="000000"/>
                </a:solidFill>
                <a:latin typeface="Roboto"/>
              </a:rPr>
              <a:t>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6290" y="769620"/>
            <a:ext cx="4013200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3" b="1" sz="1500">
                <a:solidFill>
                  <a:srgbClr val="000000"/>
                </a:solidFill>
                <a:latin typeface="Roboto"/>
              </a:rPr>
              <a:t>TEST MATRIX &amp; SECURITY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6290" y="1082040"/>
            <a:ext cx="3126740" cy="115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9" sz="900">
                <a:solidFill>
                  <a:srgbClr val="000000"/>
                </a:solidFill>
                <a:latin typeface="Roboto"/>
              </a:rPr>
              <a:t>Use this page as the final Milestone 4 evidence sheet.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0260" y="1286510"/>
          <a:ext cx="5939789" cy="12293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9160"/>
                <a:gridCol w="1261110"/>
                <a:gridCol w="1871980"/>
                <a:gridCol w="1259839"/>
                <a:gridCol w="647700"/>
              </a:tblGrid>
              <a:tr h="208280"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770"/>
                        </a:lnSpc>
                      </a:pPr>
                      <a:r>
                        <a:rPr spc="40" sz="750">
                          <a:solidFill>
                            <a:srgbClr val="000000"/>
                          </a:solidFill>
                          <a:latin typeface="Roboto"/>
                        </a:rPr>
                        <a:t>Test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e8ed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70"/>
                        </a:lnSpc>
                      </a:pPr>
                      <a:r>
                        <a:rPr spc="60" sz="750">
                          <a:solidFill>
                            <a:srgbClr val="000000"/>
                          </a:solidFill>
                          <a:latin typeface="Roboto"/>
                        </a:rPr>
                        <a:t>Input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e8ed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770"/>
                        </a:lnSpc>
                      </a:pPr>
                      <a:r>
                        <a:rPr spc="64" sz="750">
                          <a:solidFill>
                            <a:srgbClr val="000000"/>
                          </a:solidFill>
                          <a:latin typeface="Roboto"/>
                        </a:rPr>
                        <a:t>Expected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e8ed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770"/>
                        </a:lnSpc>
                      </a:pPr>
                      <a:r>
                        <a:rPr spc="48" sz="750">
                          <a:solidFill>
                            <a:srgbClr val="000000"/>
                          </a:solidFill>
                          <a:latin typeface="Roboto"/>
                        </a:rPr>
                        <a:t>Actual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e8ed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770"/>
                        </a:lnSpc>
                      </a:pPr>
                      <a:r>
                        <a:rPr spc="50" sz="750">
                          <a:solidFill>
                            <a:srgbClr val="000000"/>
                          </a:solidFill>
                          <a:latin typeface="Roboto"/>
                        </a:rPr>
                        <a:t>Status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e8edf6">
                        <a:alpha val="100000"/>
                      </a:srgbClr>
                    </a:solidFill>
                  </a:tcPr>
                </a:tc>
              </a:tr>
              <a:tr h="340359">
                <a:tc>
                  <a:txBody>
                    <a:bodyPr/>
                    <a:lstStyle/>
                    <a:p>
                      <a:pPr>
                        <a:lnSpc>
                          <a:spcPts val="459"/>
                        </a:lnSpc>
                      </a:pPr>
                    </a:p>
                    <a:p>
                      <a:pPr marL="72390" algn="l">
                        <a:lnSpc>
                          <a:spcPts val="770"/>
                        </a:lnSpc>
                      </a:pPr>
                      <a:r>
                        <a:rPr spc="52" sz="750">
                          <a:solidFill>
                            <a:srgbClr val="000000"/>
                          </a:solidFill>
                          <a:latin typeface="Roboto"/>
                        </a:rPr>
                        <a:t>TEST-001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59"/>
                        </a:lnSpc>
                      </a:pPr>
                    </a:p>
                    <a:p>
                      <a:pPr marL="73660" algn="l">
                        <a:lnSpc>
                          <a:spcPts val="770"/>
                        </a:lnSpc>
                      </a:pPr>
                      <a:r>
                        <a:rPr spc="63" sz="750">
                          <a:solidFill>
                            <a:srgbClr val="000000"/>
                          </a:solidFill>
                          <a:latin typeface="Roboto"/>
                        </a:rPr>
                        <a:t>Rule 1 match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59"/>
                        </a:lnSpc>
                      </a:pPr>
                    </a:p>
                    <a:p>
                      <a:pPr marL="72390" algn="l">
                        <a:lnSpc>
                          <a:spcPts val="770"/>
                        </a:lnSpc>
                      </a:pPr>
                      <a:r>
                        <a:rPr spc="53" sz="750">
                          <a:solidFill>
                            <a:srgbClr val="000000"/>
                          </a:solidFill>
                          <a:latin typeface="Roboto"/>
                        </a:rPr>
                        <a:t>Correct classification + email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59"/>
                        </a:lnSpc>
                      </a:pPr>
                    </a:p>
                    <a:p>
                      <a:pPr marL="72390" algn="l">
                        <a:lnSpc>
                          <a:spcPts val="770"/>
                        </a:lnSpc>
                      </a:pPr>
                      <a:r>
                        <a:rPr spc="46" sz="750">
                          <a:solidFill>
                            <a:srgbClr val="000000"/>
                          </a:solidFill>
                          <a:latin typeface="Roboto"/>
                        </a:rPr>
                        <a:t>________________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0"/>
                        </a:lnSpc>
                      </a:pPr>
                    </a:p>
                    <a:p>
                      <a:pPr marL="72390" algn="l">
                        <a:lnSpc>
                          <a:spcPts val="1040"/>
                        </a:lnSpc>
                      </a:pPr>
                      <a:r>
                        <a:rPr spc="10" sz="750">
                          <a:solidFill>
                            <a:srgbClr val="000000"/>
                          </a:solidFill>
                          <a:latin typeface="Roboto"/>
                        </a:rPr>
                        <a:t>☐ Pass ☐</a:t>
                      </a:r>
                      <a:br/>
                      <a:r>
                        <a:rPr spc="38" sz="750">
                          <a:solidFill>
                            <a:srgbClr val="000000"/>
                          </a:solidFill>
                          <a:latin typeface="Roboto"/>
                        </a:rPr>
                        <a:t>Fail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lnSpc>
                          <a:spcPts val="459"/>
                        </a:lnSpc>
                      </a:pPr>
                    </a:p>
                    <a:p>
                      <a:pPr marL="72390" algn="l">
                        <a:lnSpc>
                          <a:spcPts val="770"/>
                        </a:lnSpc>
                      </a:pPr>
                      <a:r>
                        <a:rPr spc="52" sz="750">
                          <a:solidFill>
                            <a:srgbClr val="000000"/>
                          </a:solidFill>
                          <a:latin typeface="Roboto"/>
                        </a:rPr>
                        <a:t>TEST-002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59"/>
                        </a:lnSpc>
                      </a:pPr>
                    </a:p>
                    <a:p>
                      <a:pPr marL="73660" algn="l">
                        <a:lnSpc>
                          <a:spcPts val="770"/>
                        </a:lnSpc>
                      </a:pPr>
                      <a:r>
                        <a:rPr spc="57" sz="750">
                          <a:solidFill>
                            <a:srgbClr val="000000"/>
                          </a:solidFill>
                          <a:latin typeface="Roboto"/>
                        </a:rPr>
                        <a:t>Different rule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0"/>
                        </a:lnSpc>
                      </a:pPr>
                    </a:p>
                    <a:p>
                      <a:pPr marL="72390" algn="l">
                        <a:lnSpc>
                          <a:spcPts val="1040"/>
                        </a:lnSpc>
                      </a:pPr>
                      <a:r>
                        <a:rPr spc="65" sz="750">
                          <a:solidFill>
                            <a:srgbClr val="000000"/>
                          </a:solidFill>
                          <a:latin typeface="Roboto"/>
                        </a:rPr>
                        <a:t>Correct dependent choice +</a:t>
                      </a:r>
                      <a:br/>
                      <a:r>
                        <a:rPr spc="37" sz="750">
                          <a:solidFill>
                            <a:srgbClr val="000000"/>
                          </a:solidFill>
                          <a:latin typeface="Roboto"/>
                        </a:rPr>
                        <a:t>classification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59"/>
                        </a:lnSpc>
                      </a:pPr>
                    </a:p>
                    <a:p>
                      <a:pPr marL="72390" algn="l">
                        <a:lnSpc>
                          <a:spcPts val="770"/>
                        </a:lnSpc>
                      </a:pPr>
                      <a:r>
                        <a:rPr spc="46" sz="750">
                          <a:solidFill>
                            <a:srgbClr val="000000"/>
                          </a:solidFill>
                          <a:latin typeface="Roboto"/>
                        </a:rPr>
                        <a:t>________________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0"/>
                        </a:lnSpc>
                      </a:pPr>
                    </a:p>
                    <a:p>
                      <a:pPr marL="72390" algn="l">
                        <a:lnSpc>
                          <a:spcPts val="1040"/>
                        </a:lnSpc>
                      </a:pPr>
                      <a:r>
                        <a:rPr spc="10" sz="750">
                          <a:solidFill>
                            <a:srgbClr val="000000"/>
                          </a:solidFill>
                          <a:latin typeface="Roboto"/>
                        </a:rPr>
                        <a:t>☐ Pass ☐</a:t>
                      </a:r>
                      <a:br/>
                      <a:r>
                        <a:rPr spc="38" sz="750">
                          <a:solidFill>
                            <a:srgbClr val="000000"/>
                          </a:solidFill>
                          <a:latin typeface="Roboto"/>
                        </a:rPr>
                        <a:t>Fail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40359">
                <a:tc>
                  <a:txBody>
                    <a:bodyPr/>
                    <a:lstStyle/>
                    <a:p>
                      <a:pPr>
                        <a:lnSpc>
                          <a:spcPts val="459"/>
                        </a:lnSpc>
                      </a:pPr>
                    </a:p>
                    <a:p>
                      <a:pPr marL="72390" algn="l">
                        <a:lnSpc>
                          <a:spcPts val="770"/>
                        </a:lnSpc>
                      </a:pPr>
                      <a:r>
                        <a:rPr spc="52" sz="750">
                          <a:solidFill>
                            <a:srgbClr val="000000"/>
                          </a:solidFill>
                          <a:latin typeface="Roboto"/>
                        </a:rPr>
                        <a:t>TEST-003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59"/>
                        </a:lnSpc>
                      </a:pPr>
                    </a:p>
                    <a:p>
                      <a:pPr marL="73660" algn="l">
                        <a:lnSpc>
                          <a:spcPts val="770"/>
                        </a:lnSpc>
                      </a:pPr>
                      <a:r>
                        <a:rPr spc="59" sz="750">
                          <a:solidFill>
                            <a:srgbClr val="000000"/>
                          </a:solidFill>
                          <a:latin typeface="Roboto"/>
                        </a:rPr>
                        <a:t>No rule match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0"/>
                        </a:lnSpc>
                      </a:pPr>
                    </a:p>
                    <a:p>
                      <a:pPr marL="72390" algn="l">
                        <a:lnSpc>
                          <a:spcPts val="1040"/>
                        </a:lnSpc>
                      </a:pPr>
                      <a:r>
                        <a:rPr spc="47" sz="750">
                          <a:solidFill>
                            <a:srgbClr val="000000"/>
                          </a:solidFill>
                          <a:latin typeface="Roboto"/>
                        </a:rPr>
                        <a:t>Safe fallback + correct notification </a:t>
                      </a:r>
                      <a:r>
                        <a:rPr spc="64" sz="750">
                          <a:solidFill>
                            <a:srgbClr val="000000"/>
                          </a:solidFill>
                          <a:latin typeface="Roboto"/>
                        </a:rPr>
                        <a:t>behavior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59"/>
                        </a:lnSpc>
                      </a:pPr>
                    </a:p>
                    <a:p>
                      <a:pPr marL="72390" algn="l">
                        <a:lnSpc>
                          <a:spcPts val="770"/>
                        </a:lnSpc>
                      </a:pPr>
                      <a:r>
                        <a:rPr spc="46" sz="750">
                          <a:solidFill>
                            <a:srgbClr val="000000"/>
                          </a:solidFill>
                          <a:latin typeface="Roboto"/>
                        </a:rPr>
                        <a:t>________________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0"/>
                        </a:lnSpc>
                      </a:pPr>
                    </a:p>
                    <a:p>
                      <a:pPr marL="72390" algn="l">
                        <a:lnSpc>
                          <a:spcPts val="1040"/>
                        </a:lnSpc>
                      </a:pPr>
                      <a:r>
                        <a:rPr spc="10" sz="750">
                          <a:solidFill>
                            <a:srgbClr val="000000"/>
                          </a:solidFill>
                          <a:latin typeface="Roboto"/>
                        </a:rPr>
                        <a:t>☐ Pass ☐</a:t>
                      </a:r>
                      <a:br/>
                      <a:r>
                        <a:rPr spc="38" sz="750">
                          <a:solidFill>
                            <a:srgbClr val="000000"/>
                          </a:solidFill>
                          <a:latin typeface="Roboto"/>
                        </a:rPr>
                        <a:t>Fail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96290" y="2755900"/>
            <a:ext cx="13487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9" b="1" sz="1200">
                <a:solidFill>
                  <a:srgbClr val="000000"/>
                </a:solidFill>
                <a:latin typeface="Roboto"/>
              </a:rPr>
              <a:t>Security checks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10260" y="2985770"/>
          <a:ext cx="5939789" cy="13817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9840"/>
                <a:gridCol w="3959860"/>
                <a:gridCol w="720089"/>
              </a:tblGrid>
              <a:tr h="208280"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770"/>
                        </a:lnSpc>
                      </a:pPr>
                      <a:r>
                        <a:rPr spc="59" sz="750">
                          <a:solidFill>
                            <a:srgbClr val="000000"/>
                          </a:solidFill>
                          <a:latin typeface="Roboto"/>
                        </a:rPr>
                        <a:t>Check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e8ed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70"/>
                        </a:lnSpc>
                      </a:pPr>
                      <a:r>
                        <a:rPr spc="47" sz="750">
                          <a:solidFill>
                            <a:srgbClr val="000000"/>
                          </a:solidFill>
                          <a:latin typeface="Roboto"/>
                        </a:rPr>
                        <a:t>Verification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e8ed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770"/>
                        </a:lnSpc>
                      </a:pPr>
                      <a:r>
                        <a:rPr spc="50" sz="750">
                          <a:solidFill>
                            <a:srgbClr val="000000"/>
                          </a:solidFill>
                          <a:latin typeface="Roboto"/>
                        </a:rPr>
                        <a:t>Status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e8edf6">
                        <a:alpha val="100000"/>
                      </a:srgbClr>
                    </a:solidFill>
                  </a:tcPr>
                </a:tc>
              </a:tr>
              <a:tr h="208279">
                <a:tc>
                  <a:txBody>
                    <a:bodyPr/>
                    <a:lstStyle/>
                    <a:p>
                      <a:pPr>
                        <a:lnSpc>
                          <a:spcPts val="459"/>
                        </a:lnSpc>
                      </a:pPr>
                    </a:p>
                    <a:p>
                      <a:pPr marL="72390" algn="l">
                        <a:lnSpc>
                          <a:spcPts val="770"/>
                        </a:lnSpc>
                      </a:pPr>
                      <a:r>
                        <a:rPr spc="43" sz="750">
                          <a:solidFill>
                            <a:srgbClr val="000000"/>
                          </a:solidFill>
                          <a:latin typeface="Roboto"/>
                        </a:rPr>
                        <a:t>Access control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59"/>
                        </a:lnSpc>
                      </a:pPr>
                    </a:p>
                    <a:p>
                      <a:pPr marL="73660" algn="l">
                        <a:lnSpc>
                          <a:spcPts val="770"/>
                        </a:lnSpc>
                      </a:pPr>
                      <a:r>
                        <a:rPr spc="55" sz="750">
                          <a:solidFill>
                            <a:srgbClr val="000000"/>
                          </a:solidFill>
                          <a:latin typeface="Roboto"/>
                        </a:rPr>
                        <a:t>Only authorized roles can configure/activate the flow and backend objects.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59"/>
                        </a:lnSpc>
                      </a:pPr>
                    </a:p>
                    <a:p>
                      <a:pPr marL="72390" algn="l">
                        <a:lnSpc>
                          <a:spcPts val="770"/>
                        </a:lnSpc>
                      </a:pPr>
                      <a:r>
                        <a:rPr spc="-61" sz="750">
                          <a:solidFill>
                            <a:srgbClr val="000000"/>
                          </a:solidFill>
                          <a:latin typeface="Roboto"/>
                        </a:rPr>
                        <a:t>☐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08280"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770"/>
                        </a:lnSpc>
                      </a:pPr>
                      <a:r>
                        <a:rPr spc="43" sz="750">
                          <a:solidFill>
                            <a:srgbClr val="000000"/>
                          </a:solidFill>
                          <a:latin typeface="Roboto"/>
                        </a:rPr>
                        <a:t>Field access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algn="ctr">
                        <a:lnSpc>
                          <a:spcPts val="770"/>
                        </a:lnSpc>
                      </a:pPr>
                      <a:r>
                        <a:rPr spc="54" sz="750">
                          <a:solidFill>
                            <a:srgbClr val="000000"/>
                          </a:solidFill>
                          <a:latin typeface="Roboto"/>
                        </a:rPr>
                        <a:t>Sensitive fields are protected according to the project's access requirements.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770"/>
                        </a:lnSpc>
                      </a:pPr>
                      <a:r>
                        <a:rPr spc="-61" sz="750">
                          <a:solidFill>
                            <a:srgbClr val="000000"/>
                          </a:solidFill>
                          <a:latin typeface="Roboto"/>
                        </a:rPr>
                        <a:t>☐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08279">
                <a:tc>
                  <a:txBody>
                    <a:bodyPr/>
                    <a:lstStyle/>
                    <a:p>
                      <a:pPr>
                        <a:lnSpc>
                          <a:spcPts val="459"/>
                        </a:lnSpc>
                      </a:pPr>
                    </a:p>
                    <a:p>
                      <a:pPr marL="72390" algn="l">
                        <a:lnSpc>
                          <a:spcPts val="770"/>
                        </a:lnSpc>
                      </a:pPr>
                      <a:r>
                        <a:rPr spc="59" sz="750">
                          <a:solidFill>
                            <a:srgbClr val="000000"/>
                          </a:solidFill>
                          <a:latin typeface="Roboto"/>
                        </a:rPr>
                        <a:t>Email exposure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59"/>
                        </a:lnSpc>
                      </a:pPr>
                    </a:p>
                    <a:p>
                      <a:pPr marL="73660" algn="l">
                        <a:lnSpc>
                          <a:spcPts val="770"/>
                        </a:lnSpc>
                      </a:pPr>
                      <a:r>
                        <a:rPr spc="55" sz="750">
                          <a:solidFill>
                            <a:srgbClr val="000000"/>
                          </a:solidFill>
                          <a:latin typeface="Roboto"/>
                        </a:rPr>
                        <a:t>Notification contains only required information and approved recipients.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59"/>
                        </a:lnSpc>
                      </a:pPr>
                    </a:p>
                    <a:p>
                      <a:pPr marL="72390" algn="l">
                        <a:lnSpc>
                          <a:spcPts val="770"/>
                        </a:lnSpc>
                      </a:pPr>
                      <a:r>
                        <a:rPr spc="-61" sz="750">
                          <a:solidFill>
                            <a:srgbClr val="000000"/>
                          </a:solidFill>
                          <a:latin typeface="Roboto"/>
                        </a:rPr>
                        <a:t>☐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08280"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770"/>
                        </a:lnSpc>
                      </a:pPr>
                      <a:r>
                        <a:rPr spc="59" sz="750">
                          <a:solidFill>
                            <a:srgbClr val="000000"/>
                          </a:solidFill>
                          <a:latin typeface="Roboto"/>
                        </a:rPr>
                        <a:t>Error handling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algn="ctr">
                        <a:lnSpc>
                          <a:spcPts val="770"/>
                        </a:lnSpc>
                      </a:pPr>
                      <a:r>
                        <a:rPr spc="53" sz="750">
                          <a:solidFill>
                            <a:srgbClr val="000000"/>
                          </a:solidFill>
                          <a:latin typeface="Roboto"/>
                        </a:rPr>
                        <a:t>Failures are visible in execution details and do not silently corrupt ticket data.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770"/>
                        </a:lnSpc>
                      </a:pPr>
                      <a:r>
                        <a:rPr spc="-61" sz="750">
                          <a:solidFill>
                            <a:srgbClr val="000000"/>
                          </a:solidFill>
                          <a:latin typeface="Roboto"/>
                        </a:rPr>
                        <a:t>☐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40359">
                <a:tc>
                  <a:txBody>
                    <a:bodyPr/>
                    <a:lstStyle/>
                    <a:p>
                      <a:pPr>
                        <a:lnSpc>
                          <a:spcPts val="459"/>
                        </a:lnSpc>
                      </a:pPr>
                    </a:p>
                    <a:p>
                      <a:pPr marL="72390" algn="l">
                        <a:lnSpc>
                          <a:spcPts val="770"/>
                        </a:lnSpc>
                      </a:pPr>
                      <a:r>
                        <a:rPr spc="61" sz="750">
                          <a:solidFill>
                            <a:srgbClr val="000000"/>
                          </a:solidFill>
                          <a:latin typeface="Roboto"/>
                        </a:rPr>
                        <a:t>Test environment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0"/>
                        </a:lnSpc>
                      </a:pPr>
                    </a:p>
                    <a:p>
                      <a:pPr marL="73660" algn="l">
                        <a:lnSpc>
                          <a:spcPts val="1040"/>
                        </a:lnSpc>
                      </a:pPr>
                      <a:r>
                        <a:rPr spc="61" sz="750">
                          <a:solidFill>
                            <a:srgbClr val="000000"/>
                          </a:solidFill>
                          <a:latin typeface="Roboto"/>
                        </a:rPr>
                        <a:t>Testing completed in an approved non-production environment or approved</a:t>
                      </a:r>
                      <a:br/>
                      <a:r>
                        <a:rPr spc="47" sz="750">
                          <a:solidFill>
                            <a:srgbClr val="000000"/>
                          </a:solidFill>
                          <a:latin typeface="Roboto"/>
                        </a:rPr>
                        <a:t>test process.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59"/>
                        </a:lnSpc>
                      </a:pPr>
                    </a:p>
                    <a:p>
                      <a:pPr marL="72390" algn="l">
                        <a:lnSpc>
                          <a:spcPts val="770"/>
                        </a:lnSpc>
                      </a:pPr>
                      <a:r>
                        <a:rPr spc="-61" sz="750">
                          <a:solidFill>
                            <a:srgbClr val="000000"/>
                          </a:solidFill>
                          <a:latin typeface="Roboto"/>
                        </a:rPr>
                        <a:t>☐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7700" y="10261600"/>
            <a:ext cx="2773679" cy="927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7" sz="750">
                <a:solidFill>
                  <a:srgbClr val="000000"/>
                </a:solidFill>
                <a:latin typeface="Roboto"/>
              </a:rPr>
              <a:t>Auto Ticket Classification using Flow Designer – Milestone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5109" y="10261600"/>
            <a:ext cx="317500" cy="927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2" sz="750">
                <a:solidFill>
                  <a:srgbClr val="000000"/>
                </a:solidFill>
                <a:latin typeface="Roboto"/>
              </a:rPr>
              <a:t>Page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6290" y="769620"/>
            <a:ext cx="3667760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1" b="1" sz="1500">
                <a:solidFill>
                  <a:srgbClr val="000000"/>
                </a:solidFill>
                <a:latin typeface="Roboto"/>
              </a:rPr>
              <a:t>MILESTONE 4 – FINAL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6290" y="1082040"/>
            <a:ext cx="5306060" cy="115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2" sz="900">
                <a:solidFill>
                  <a:srgbClr val="000000"/>
                </a:solidFill>
                <a:latin typeface="Roboto"/>
              </a:rPr>
              <a:t>Complete the following before considering the automation ready for the next project stage.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0260" y="1286510"/>
          <a:ext cx="5939789" cy="50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7450"/>
                <a:gridCol w="1188720"/>
                <a:gridCol w="1187449"/>
                <a:gridCol w="1188720"/>
                <a:gridCol w="1187450"/>
              </a:tblGrid>
              <a:tr h="508000"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</a:pPr>
                    </a:p>
                    <a:p>
                      <a:pPr algn="ctr">
                        <a:lnSpc>
                          <a:spcPts val="819"/>
                        </a:lnSpc>
                      </a:pPr>
                      <a:r>
                        <a:rPr spc="108" b="1" sz="800">
                          <a:solidFill>
                            <a:srgbClr val="000000"/>
                          </a:solidFill>
                          <a:latin typeface="Roboto"/>
                        </a:rPr>
                        <a:t>Scenario 1 PASS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</a:pPr>
                    </a:p>
                    <a:p>
                      <a:pPr algn="ctr">
                        <a:lnSpc>
                          <a:spcPts val="819"/>
                        </a:lnSpc>
                      </a:pPr>
                      <a:r>
                        <a:rPr spc="109" b="1" sz="800">
                          <a:solidFill>
                            <a:srgbClr val="000000"/>
                          </a:solidFill>
                          <a:latin typeface="Roboto"/>
                        </a:rPr>
                        <a:t>Scenario 2 PASS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</a:pPr>
                    </a:p>
                    <a:p>
                      <a:pPr algn="ctr">
                        <a:lnSpc>
                          <a:spcPts val="819"/>
                        </a:lnSpc>
                      </a:pPr>
                      <a:r>
                        <a:rPr spc="108" b="1" sz="800">
                          <a:solidFill>
                            <a:srgbClr val="000000"/>
                          </a:solidFill>
                          <a:latin typeface="Roboto"/>
                        </a:rPr>
                        <a:t>Scenario 3 PASS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</a:pPr>
                    </a:p>
                    <a:p>
                      <a:pPr algn="ctr">
                        <a:lnSpc>
                          <a:spcPts val="819"/>
                        </a:lnSpc>
                      </a:pPr>
                      <a:r>
                        <a:rPr spc="114" b="1" sz="800">
                          <a:solidFill>
                            <a:srgbClr val="000000"/>
                          </a:solidFill>
                          <a:latin typeface="Roboto"/>
                        </a:rPr>
                        <a:t>Security PASS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80"/>
                        </a:lnSpc>
                      </a:pPr>
                    </a:p>
                    <a:p>
                      <a:pPr algn="ctr">
                        <a:lnSpc>
                          <a:spcPts val="1100"/>
                        </a:lnSpc>
                      </a:pPr>
                      <a:r>
                        <a:rPr spc="115" b="1" sz="800">
                          <a:solidFill>
                            <a:srgbClr val="000000"/>
                          </a:solidFill>
                          <a:latin typeface="Roboto"/>
                        </a:rPr>
                        <a:t>Ready for Final</a:t>
                      </a:r>
                      <a:br/>
                      <a:r>
                        <a:rPr spc="132" b="1" sz="800">
                          <a:solidFill>
                            <a:srgbClr val="000000"/>
                          </a:solidFill>
                          <a:latin typeface="Roboto"/>
                        </a:rPr>
                        <a:t>Review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96290" y="1974850"/>
            <a:ext cx="5858510" cy="115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1" sz="900">
                <a:solidFill>
                  <a:srgbClr val="000000"/>
                </a:solidFill>
                <a:latin typeface="Roboto"/>
              </a:rPr>
              <a:t>Final documentation to capture: test data, expected result, actual result, screenshots/evidence,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6290" y="2143760"/>
            <a:ext cx="5725160" cy="115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2" sz="900">
                <a:solidFill>
                  <a:srgbClr val="000000"/>
                </a:solidFill>
                <a:latin typeface="Roboto"/>
              </a:rPr>
              <a:t>execution details, email evidence, defects found, fixes applied, and final approval according to the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6290" y="2312670"/>
            <a:ext cx="923290" cy="115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1" sz="900">
                <a:solidFill>
                  <a:srgbClr val="000000"/>
                </a:solidFill>
                <a:latin typeface="Roboto"/>
              </a:rPr>
              <a:t>project process.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6290" y="2541270"/>
            <a:ext cx="2653030" cy="977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9" sz="750">
                <a:solidFill>
                  <a:srgbClr val="000000"/>
                </a:solidFill>
                <a:latin typeface="Roboto"/>
              </a:rPr>
              <a:t>Project: Auto Ticket Classification using Flow Designer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290" y="2673350"/>
            <a:ext cx="2698750" cy="977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5" sz="750">
                <a:solidFill>
                  <a:srgbClr val="000000"/>
                </a:solidFill>
                <a:latin typeface="Roboto"/>
              </a:rPr>
              <a:t>Document: Milestone 4 – Testing, Validation &amp;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290" y="2809240"/>
            <a:ext cx="5935980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3" sz="900">
                <a:solidFill>
                  <a:srgbClr val="000000"/>
                </a:solidFill>
                <a:latin typeface="Roboto"/>
              </a:rPr>
              <a:t>Next step: Final project demonstration/documentation and deployment or handover review, subject 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6290" y="2978150"/>
            <a:ext cx="2172970" cy="115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9" sz="900">
                <a:solidFill>
                  <a:srgbClr val="000000"/>
                </a:solidFill>
                <a:latin typeface="Roboto"/>
              </a:rPr>
              <a:t>your organization's approval process.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10261600"/>
            <a:ext cx="2773679" cy="927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7" sz="750">
                <a:solidFill>
                  <a:srgbClr val="000000"/>
                </a:solidFill>
                <a:latin typeface="Roboto"/>
              </a:rPr>
              <a:t>Auto Ticket Classification using Flow Designer – Milestone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5109" y="10261600"/>
            <a:ext cx="317500" cy="927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2" sz="750">
                <a:solidFill>
                  <a:srgbClr val="000000"/>
                </a:solidFill>
                <a:latin typeface="Roboto"/>
              </a:rPr>
              <a:t>Page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