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9150" y="782320"/>
            <a:ext cx="5920740" cy="2412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4" b="1" sz="1900">
                <a:solidFill>
                  <a:srgbClr val="000000"/>
                </a:solidFill>
                <a:latin typeface="Roboto"/>
              </a:rPr>
              <a:t>AUTO TICKET CLASSIFICATION USING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89910" y="1087120"/>
            <a:ext cx="1379219" cy="241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8" b="1" sz="1900">
                <a:solidFill>
                  <a:srgbClr val="000000"/>
                </a:solidFill>
                <a:latin typeface="Roboto"/>
              </a:rPr>
              <a:t>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557020"/>
            <a:ext cx="578104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5" b="1" sz="1500">
                <a:solidFill>
                  <a:srgbClr val="000000"/>
                </a:solidFill>
                <a:latin typeface="Roboto"/>
              </a:rPr>
              <a:t>Milestone 3: Automation using Flow Designer &amp;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798320"/>
            <a:ext cx="125984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6" b="1" sz="1500">
                <a:solidFill>
                  <a:srgbClr val="000000"/>
                </a:solidFill>
                <a:latin typeface="Roboto"/>
              </a:rPr>
              <a:t>Notification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" y="2110740"/>
            <a:ext cx="281432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sz="900">
                <a:solidFill>
                  <a:srgbClr val="000000"/>
                </a:solidFill>
                <a:latin typeface="Roboto"/>
              </a:rPr>
              <a:t>Activity: Auto Classification using Flow Designer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0260" y="2406650"/>
          <a:ext cx="5939789" cy="5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04" b="1" sz="850">
                          <a:solidFill>
                            <a:srgbClr val="000000"/>
                          </a:solidFill>
                          <a:latin typeface="Roboto"/>
                        </a:rPr>
                        <a:t>Trigger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5" b="1" sz="850">
                          <a:solidFill>
                            <a:srgbClr val="000000"/>
                          </a:solidFill>
                          <a:latin typeface="Roboto"/>
                        </a:rPr>
                        <a:t>Read Ticket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78" b="1" sz="850">
                          <a:solidFill>
                            <a:srgbClr val="000000"/>
                          </a:solidFill>
                          <a:latin typeface="Roboto"/>
                        </a:rPr>
                        <a:t>Classify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04" b="1" sz="850">
                          <a:solidFill>
                            <a:srgbClr val="000000"/>
                          </a:solidFill>
                          <a:latin typeface="Roboto"/>
                        </a:rPr>
                        <a:t>Update Record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91" b="1" sz="850">
                          <a:solidFill>
                            <a:srgbClr val="000000"/>
                          </a:solidFill>
                          <a:latin typeface="Roboto"/>
                        </a:rPr>
                        <a:t>Email</a:t>
                      </a:r>
                      <a:br/>
                      <a:r>
                        <a:rPr spc="88" b="1" sz="850">
                          <a:solidFill>
                            <a:srgbClr val="000000"/>
                          </a:solidFill>
                          <a:latin typeface="Roboto"/>
                        </a:rPr>
                        <a:t>Notification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8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6290" y="3192780"/>
            <a:ext cx="1704339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2" b="1" sz="1200">
                <a:solidFill>
                  <a:srgbClr val="000000"/>
                </a:solidFill>
                <a:latin typeface="Roboto"/>
              </a:rPr>
              <a:t>Milestone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90" y="3450590"/>
            <a:ext cx="5558790" cy="116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sz="900">
                <a:solidFill>
                  <a:srgbClr val="000000"/>
                </a:solidFill>
                <a:latin typeface="Roboto"/>
              </a:rPr>
              <a:t>Build the automation that reads a ticket, evaluates the agreed classification rules, updates 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290" y="3622040"/>
            <a:ext cx="5082540" cy="116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sz="900">
                <a:solidFill>
                  <a:srgbClr val="000000"/>
                </a:solidFill>
                <a:latin typeface="Roboto"/>
              </a:rPr>
              <a:t>classification field, and sends an email notification when the required condition is met.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290" y="3853179"/>
            <a:ext cx="561721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7" sz="800">
                <a:solidFill>
                  <a:srgbClr val="000000"/>
                </a:solidFill>
                <a:latin typeface="Roboto"/>
              </a:rPr>
              <a:t>Prerequisite: Milestone 1 requirements and Milestone 2 table/fields should already be completed. The exact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6290" y="3986529"/>
            <a:ext cx="406146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sz="800">
                <a:solidFill>
                  <a:srgbClr val="000000"/>
                </a:solidFill>
                <a:latin typeface="Roboto"/>
              </a:rPr>
              <a:t>Designer action names can vary by ServiceNow release and installed capabilities.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282956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9" b="1" sz="1500">
                <a:solidFill>
                  <a:srgbClr val="000000"/>
                </a:solidFill>
                <a:latin typeface="Roboto"/>
              </a:rPr>
              <a:t>MILESTONE 3 – 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90930"/>
            <a:ext cx="34061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b="1" sz="1200">
                <a:solidFill>
                  <a:srgbClr val="000000"/>
                </a:solidFill>
                <a:latin typeface="Roboto"/>
              </a:rPr>
              <a:t>Auto Classification using Flow Designer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348740"/>
            <a:ext cx="590423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900">
                <a:solidFill>
                  <a:srgbClr val="000000"/>
                </a:solidFill>
                <a:latin typeface="Roboto"/>
              </a:rPr>
              <a:t>This activity converts the backend configuration into an automated workflow. A new ticket starts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520190"/>
            <a:ext cx="502666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" sz="900">
                <a:solidFill>
                  <a:srgbClr val="000000"/>
                </a:solidFill>
                <a:latin typeface="Roboto"/>
              </a:rPr>
              <a:t>flow; the flow checks the ticket information and applies the appropriate classification.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0260" y="1727200"/>
          <a:ext cx="5939790" cy="2609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9790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86" b="1" sz="850">
                          <a:solidFill>
                            <a:srgbClr val="000000"/>
                          </a:solidFill>
                          <a:latin typeface="Roboto"/>
                        </a:rPr>
                        <a:t>PICTURE VIEW – FLOW DESIGNER NAVIGATION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9" sz="800">
                          <a:solidFill>
                            <a:srgbClr val="000000"/>
                          </a:solidFill>
                          <a:latin typeface="Roboto"/>
                        </a:rPr>
                        <a:t>1 Open Flow Designer from the ServiceNow Application Navigator.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7" sz="800">
                          <a:solidFill>
                            <a:srgbClr val="000000"/>
                          </a:solidFill>
                          <a:latin typeface="Roboto"/>
                        </a:rPr>
                        <a:t>2 Select New → Flow (or the equivalent flow-creation option in your release).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6" sz="800">
                          <a:solidFill>
                            <a:srgbClr val="000000"/>
                          </a:solidFill>
                          <a:latin typeface="Roboto"/>
                        </a:rPr>
                        <a:t>3 Give the flow a clear name: Auto Ticket Classification.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9" sz="800">
                          <a:solidFill>
                            <a:srgbClr val="000000"/>
                          </a:solidFill>
                          <a:latin typeface="Roboto"/>
                        </a:rPr>
                        <a:t>4 Choose the ticket table created in Milestone 2 as the trigger source.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5 Configure the trigger condition, for example when a ticket is created.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4" sz="800">
                          <a:solidFill>
                            <a:srgbClr val="000000"/>
                          </a:solidFill>
                          <a:latin typeface="Roboto"/>
                        </a:rPr>
                        <a:t>6 Add classification logic using If/Else, Decision Table, or another supported decision method.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7" sz="800">
                          <a:solidFill>
                            <a:srgbClr val="000000"/>
                          </a:solidFill>
                          <a:latin typeface="Roboto"/>
                        </a:rPr>
                        <a:t>7 Add an Update Record action to write the classification.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6" sz="800">
                          <a:solidFill>
                            <a:srgbClr val="000000"/>
                          </a:solidFill>
                          <a:latin typeface="Roboto"/>
                        </a:rPr>
                        <a:t>8 Add Send Email / notification action if the requirement calls for an email.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9 Save, validate and test the flow before activation.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6290" y="4564380"/>
            <a:ext cx="33045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b="1" sz="1200">
                <a:solidFill>
                  <a:srgbClr val="000000"/>
                </a:solidFill>
                <a:latin typeface="Roboto"/>
              </a:rPr>
              <a:t>Action 1 – Create the Flow and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190" y="4820920"/>
            <a:ext cx="461264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900">
                <a:solidFill>
                  <a:srgbClr val="000000"/>
                </a:solidFill>
                <a:latin typeface="Roboto"/>
              </a:rPr>
              <a:t>1. Open Flow Designer — Application Navigator → search Flow Designer → open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90" y="5017770"/>
            <a:ext cx="498602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sz="900">
                <a:solidFill>
                  <a:srgbClr val="000000"/>
                </a:solidFill>
                <a:latin typeface="Roboto"/>
              </a:rPr>
              <a:t>2. Create Flow — Select New → Flow, or the equivalent option provided by your instance.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90" y="5214620"/>
            <a:ext cx="434340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900">
                <a:solidFill>
                  <a:srgbClr val="000000"/>
                </a:solidFill>
                <a:latin typeface="Roboto"/>
              </a:rPr>
              <a:t>3. Name the flow — Enter Auto Ticket Classification. Add a useful description.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90" y="5411470"/>
            <a:ext cx="586486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sz="900">
                <a:solidFill>
                  <a:srgbClr val="000000"/>
                </a:solidFill>
                <a:latin typeface="Roboto"/>
              </a:rPr>
              <a:t>4. Select trigger — Choose the custom Auto Ticket table from Milestone 2 and select the required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90" y="5570220"/>
            <a:ext cx="354329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" sz="900">
                <a:solidFill>
                  <a:srgbClr val="000000"/>
                </a:solidFill>
                <a:latin typeface="Roboto"/>
              </a:rPr>
              <a:t>event.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90" y="5767070"/>
            <a:ext cx="568706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sz="900">
                <a:solidFill>
                  <a:srgbClr val="000000"/>
                </a:solidFill>
                <a:latin typeface="Roboto"/>
              </a:rPr>
              <a:t>5. Set trigger condition — Typical example: run when a new ticket is created. Add only the conditions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90" y="5925820"/>
            <a:ext cx="1948179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sz="900">
                <a:solidFill>
                  <a:srgbClr val="000000"/>
                </a:solidFill>
                <a:latin typeface="Roboto"/>
              </a:rPr>
              <a:t>required by the business use case.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90" y="6122670"/>
            <a:ext cx="337312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sz="900">
                <a:solidFill>
                  <a:srgbClr val="000000"/>
                </a:solidFill>
                <a:latin typeface="Roboto"/>
              </a:rPr>
              <a:t>6. Save draft — Save the flow before adding further 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90" y="6319520"/>
            <a:ext cx="525018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sz="900">
                <a:solidFill>
                  <a:srgbClr val="000000"/>
                </a:solidFill>
                <a:latin typeface="Roboto"/>
              </a:rPr>
              <a:t>7. Review data pill — Confirm the triggered record and its fields are available to later actions.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290" y="6577330"/>
            <a:ext cx="18707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1" b="1" sz="1200">
                <a:solidFill>
                  <a:srgbClr val="000000"/>
                </a:solidFill>
                <a:latin typeface="Roboto"/>
              </a:rPr>
              <a:t>Flow model – Action 1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0260" y="6807200"/>
          <a:ext cx="5939789" cy="5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5" b="1" sz="850">
                          <a:solidFill>
                            <a:srgbClr val="000000"/>
                          </a:solidFill>
                          <a:latin typeface="Roboto"/>
                        </a:rPr>
                        <a:t>Ticket Created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03" b="1" sz="850">
                          <a:solidFill>
                            <a:srgbClr val="000000"/>
                          </a:solidFill>
                          <a:latin typeface="Roboto"/>
                        </a:rPr>
                        <a:t>Trigger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02" b="1" sz="850">
                          <a:solidFill>
                            <a:srgbClr val="000000"/>
                          </a:solidFill>
                          <a:latin typeface="Roboto"/>
                        </a:rPr>
                        <a:t>Record Data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79" b="1" sz="850">
                          <a:solidFill>
                            <a:srgbClr val="000000"/>
                          </a:solidFill>
                          <a:latin typeface="Roboto"/>
                        </a:rPr>
                        <a:t>Classification</a:t>
                      </a:r>
                      <a:br/>
                      <a:r>
                        <a:rPr spc="79" b="1" sz="850">
                          <a:solidFill>
                            <a:srgbClr val="000000"/>
                          </a:solidFill>
                          <a:latin typeface="Roboto"/>
                        </a:rPr>
                        <a:t>Logic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84" b="1" sz="850">
                          <a:solidFill>
                            <a:srgbClr val="000000"/>
                          </a:solidFill>
                          <a:latin typeface="Roboto"/>
                        </a:rPr>
                        <a:t>Actions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266573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2" b="1" sz="1500">
                <a:solidFill>
                  <a:srgbClr val="000000"/>
                </a:solidFill>
                <a:latin typeface="Roboto"/>
              </a:rPr>
              <a:t>MILESTONE 3 – ACTION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90930"/>
            <a:ext cx="33578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4" b="1" sz="1200">
                <a:solidFill>
                  <a:srgbClr val="000000"/>
                </a:solidFill>
                <a:latin typeface="Roboto"/>
              </a:rPr>
              <a:t>Classification Logic and Record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348740"/>
            <a:ext cx="583311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sz="900">
                <a:solidFill>
                  <a:srgbClr val="000000"/>
                </a:solidFill>
                <a:latin typeface="Roboto"/>
              </a:rPr>
              <a:t>The classification logic converts ticket information into the required classification value. For a small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520190"/>
            <a:ext cx="565912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6" sz="900">
                <a:solidFill>
                  <a:srgbClr val="000000"/>
                </a:solidFill>
                <a:latin typeface="Roboto"/>
              </a:rPr>
              <a:t>project, If/Else conditions are easy to understand; for many rules, a Decision Table may be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" y="1691639"/>
            <a:ext cx="362204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1" sz="900">
                <a:solidFill>
                  <a:srgbClr val="000000"/>
                </a:solidFill>
                <a:latin typeface="Roboto"/>
              </a:rPr>
              <a:t>maintainable if supported and approved in your environment.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0260" y="1898650"/>
          <a:ext cx="5939790" cy="2609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9790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80" b="1" sz="850">
                          <a:solidFill>
                            <a:srgbClr val="000000"/>
                          </a:solidFill>
                          <a:latin typeface="Roboto"/>
                        </a:rPr>
                        <a:t>PICTURE VIEW – CLASSIFICATION MODEL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1 Add a logic step after the trigger.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2 Select the ticket field to evaluate, such as Category, Subcategory or Short Description.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5" sz="800">
                          <a:solidFill>
                            <a:srgbClr val="000000"/>
                          </a:solidFill>
                          <a:latin typeface="Roboto"/>
                        </a:rPr>
                        <a:t>3 Create the agreed condition for the first classification.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7" sz="800">
                          <a:solidFill>
                            <a:srgbClr val="000000"/>
                          </a:solidFill>
                          <a:latin typeface="Roboto"/>
                        </a:rPr>
                        <a:t>4 Set the classification value for a matching ticket.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1" sz="800">
                          <a:solidFill>
                            <a:srgbClr val="000000"/>
                          </a:solidFill>
                          <a:latin typeface="Roboto"/>
                        </a:rPr>
                        <a:t>5 Add additional conditions for other classifications.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6 Create a fallback branch for tickets that do not match a rule.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7 Add Update Record and select the triggering ticket.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1" sz="800">
                          <a:solidFill>
                            <a:srgbClr val="000000"/>
                          </a:solidFill>
                          <a:latin typeface="Roboto"/>
                        </a:rPr>
                        <a:t>8 Map the calculated classification to the Classification field.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2" sz="800">
                          <a:solidFill>
                            <a:srgbClr val="000000"/>
                          </a:solidFill>
                          <a:latin typeface="Roboto"/>
                        </a:rPr>
                        <a:t>9 Save and validate the flow.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6290" y="4723130"/>
            <a:ext cx="37858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9" b="1" sz="1200">
                <a:solidFill>
                  <a:srgbClr val="000000"/>
                </a:solidFill>
                <a:latin typeface="Roboto"/>
              </a:rPr>
              <a:t>Action 2 – Configure Classification + Update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90" y="4979670"/>
            <a:ext cx="549656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sz="900">
                <a:solidFill>
                  <a:srgbClr val="000000"/>
                </a:solidFill>
                <a:latin typeface="Roboto"/>
              </a:rPr>
              <a:t>1. Add logic — After the trigger, add an If/Else, Decision Table, or equivalent supported logic step.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90" y="5176520"/>
            <a:ext cx="561594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900">
                <a:solidFill>
                  <a:srgbClr val="000000"/>
                </a:solidFill>
                <a:latin typeface="Roboto"/>
              </a:rPr>
              <a:t>2. Choose input — Use a data pill from the triggering ticket, such as Category, Subcategory or Short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90" y="5335270"/>
            <a:ext cx="671829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sz="900">
                <a:solidFill>
                  <a:srgbClr val="000000"/>
                </a:solidFill>
                <a:latin typeface="Roboto"/>
              </a:rPr>
              <a:t>Description.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90" y="5532120"/>
            <a:ext cx="562229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sz="900">
                <a:solidFill>
                  <a:srgbClr val="000000"/>
                </a:solidFill>
                <a:latin typeface="Roboto"/>
              </a:rPr>
              <a:t>3. Build Rule 1 — Example: if the agreed condition matches, assign the corresponding classification.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90" y="5728970"/>
            <a:ext cx="551180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sz="900">
                <a:solidFill>
                  <a:srgbClr val="000000"/>
                </a:solidFill>
                <a:latin typeface="Roboto"/>
              </a:rPr>
              <a:t>4. Build Rule 2+ — Add the remaining approved rules. Keep conditions clear and non-overlapping.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90" y="5925820"/>
            <a:ext cx="448818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sz="900">
                <a:solidFill>
                  <a:srgbClr val="000000"/>
                </a:solidFill>
                <a:latin typeface="Roboto"/>
              </a:rPr>
              <a:t>5. Fallback — If no rule matches, use the agreed default or manual-review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90" y="6122670"/>
            <a:ext cx="366268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900">
                <a:solidFill>
                  <a:srgbClr val="000000"/>
                </a:solidFill>
                <a:latin typeface="Roboto"/>
              </a:rPr>
              <a:t>6. Add Update Record — Select the triggering Auto Ticket record.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90" y="6319520"/>
            <a:ext cx="479933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sz="900">
                <a:solidFill>
                  <a:srgbClr val="000000"/>
                </a:solidFill>
                <a:latin typeface="Roboto"/>
              </a:rPr>
              <a:t>7. Set Classification — Map the selected classification value to the Classification field.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90" y="6516370"/>
            <a:ext cx="399669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sz="900">
                <a:solidFill>
                  <a:srgbClr val="000000"/>
                </a:solidFill>
                <a:latin typeface="Roboto"/>
              </a:rPr>
              <a:t>8. Save/validate — Review all conditions, branches and field mappings.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290" y="6774180"/>
            <a:ext cx="13093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0" b="1" sz="1200">
                <a:solidFill>
                  <a:srgbClr val="000000"/>
                </a:solidFill>
                <a:latin typeface="Roboto"/>
              </a:rPr>
              <a:t>Example model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10260" y="7004050"/>
          <a:ext cx="5939789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368300"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0" b="1" sz="850">
                          <a:solidFill>
                            <a:srgbClr val="000000"/>
                          </a:solidFill>
                          <a:latin typeface="Roboto"/>
                        </a:rPr>
                        <a:t>Category / Text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-139" b="1" sz="850">
                          <a:solidFill>
                            <a:srgbClr val="000000"/>
                          </a:solidFill>
                          <a:latin typeface="Roboto"/>
                        </a:rPr>
                        <a:t>→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5" b="1" sz="850">
                          <a:solidFill>
                            <a:srgbClr val="000000"/>
                          </a:solidFill>
                          <a:latin typeface="Roboto"/>
                        </a:rPr>
                        <a:t>Condition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-139" b="1" sz="850">
                          <a:solidFill>
                            <a:srgbClr val="000000"/>
                          </a:solidFill>
                          <a:latin typeface="Roboto"/>
                        </a:rPr>
                        <a:t>→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79" b="1" sz="850">
                          <a:solidFill>
                            <a:srgbClr val="000000"/>
                          </a:solidFill>
                          <a:latin typeface="Roboto"/>
                        </a:rPr>
                        <a:t>Classification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10260" y="7448550"/>
          <a:ext cx="5939789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368300"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09" b="1" sz="850">
                          <a:solidFill>
                            <a:srgbClr val="000000"/>
                          </a:solidFill>
                          <a:latin typeface="Roboto"/>
                        </a:rPr>
                        <a:t>Hardware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-139" b="1" sz="850">
                          <a:solidFill>
                            <a:srgbClr val="000000"/>
                          </a:solidFill>
                          <a:latin typeface="Roboto"/>
                        </a:rPr>
                        <a:t>→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7" b="1" sz="850">
                          <a:solidFill>
                            <a:srgbClr val="000000"/>
                          </a:solidFill>
                          <a:latin typeface="Roboto"/>
                        </a:rPr>
                        <a:t>Match Rule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-139" b="1" sz="850">
                          <a:solidFill>
                            <a:srgbClr val="000000"/>
                          </a:solidFill>
                          <a:latin typeface="Roboto"/>
                        </a:rPr>
                        <a:t>→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8" b="1" sz="850">
                          <a:solidFill>
                            <a:srgbClr val="000000"/>
                          </a:solidFill>
                          <a:latin typeface="Roboto"/>
                        </a:rPr>
                        <a:t>Hardware Issue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10260" y="7893050"/>
          <a:ext cx="5939789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368300"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03" b="1" sz="850">
                          <a:solidFill>
                            <a:srgbClr val="000000"/>
                          </a:solidFill>
                          <a:latin typeface="Roboto"/>
                        </a:rPr>
                        <a:t>Software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-139" b="1" sz="850">
                          <a:solidFill>
                            <a:srgbClr val="000000"/>
                          </a:solidFill>
                          <a:latin typeface="Roboto"/>
                        </a:rPr>
                        <a:t>→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7" b="1" sz="850">
                          <a:solidFill>
                            <a:srgbClr val="000000"/>
                          </a:solidFill>
                          <a:latin typeface="Roboto"/>
                        </a:rPr>
                        <a:t>Match Rule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-139" b="1" sz="850">
                          <a:solidFill>
                            <a:srgbClr val="000000"/>
                          </a:solidFill>
                          <a:latin typeface="Roboto"/>
                        </a:rPr>
                        <a:t>→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4" b="1" sz="850">
                          <a:solidFill>
                            <a:srgbClr val="000000"/>
                          </a:solidFill>
                          <a:latin typeface="Roboto"/>
                        </a:rPr>
                        <a:t>Software Issue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266573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2" b="1" sz="1500">
                <a:solidFill>
                  <a:srgbClr val="000000"/>
                </a:solidFill>
                <a:latin typeface="Roboto"/>
              </a:rPr>
              <a:t>MILESTONE 3 – ACTION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90930"/>
            <a:ext cx="25984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5" b="1" sz="1200">
                <a:solidFill>
                  <a:srgbClr val="000000"/>
                </a:solidFill>
                <a:latin typeface="Roboto"/>
              </a:rPr>
              <a:t>Email Notification and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6290" y="1348740"/>
            <a:ext cx="549275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sz="900">
                <a:solidFill>
                  <a:srgbClr val="000000"/>
                </a:solidFill>
                <a:latin typeface="Roboto"/>
              </a:rPr>
              <a:t>After classification is updated, an email can notify the appropriate recipient. Use the project's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6290" y="1520190"/>
            <a:ext cx="596773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900">
                <a:solidFill>
                  <a:srgbClr val="000000"/>
                </a:solidFill>
                <a:latin typeface="Roboto"/>
              </a:rPr>
              <a:t>approved recipient, subject and message template. Avoid sending test notifications to real users until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" y="1691639"/>
            <a:ext cx="1659889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8" sz="900">
                <a:solidFill>
                  <a:srgbClr val="000000"/>
                </a:solidFill>
                <a:latin typeface="Roboto"/>
              </a:rPr>
              <a:t>the flow has been validated.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10260" y="1898650"/>
          <a:ext cx="5939790" cy="2482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9790"/>
              </a:tblGrid>
              <a:tr h="266700">
                <a:tc>
                  <a:txBody>
                    <a:bodyPr/>
                    <a:lstStyle/>
                    <a:p>
                      <a:pPr>
                        <a:lnSpc>
                          <a:spcPts val="6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78" b="1" sz="850">
                          <a:solidFill>
                            <a:srgbClr val="000000"/>
                          </a:solidFill>
                          <a:latin typeface="Roboto"/>
                        </a:rPr>
                        <a:t>PICTURE VIEW – EMAIL NOTIFICATION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6" sz="800">
                          <a:solidFill>
                            <a:srgbClr val="000000"/>
                          </a:solidFill>
                          <a:latin typeface="Roboto"/>
                        </a:rPr>
                        <a:t>1 Add the supported Send Email / email notification action after the classification update.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ts val="400"/>
                        </a:lnSpc>
                      </a:pPr>
                    </a:p>
                    <a:p>
                      <a:pPr marL="83820" algn="l">
                        <a:lnSpc>
                          <a:spcPts val="1050"/>
                        </a:lnSpc>
                      </a:pPr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2 Choose the recipient source: a fixed approved test address, a ticket field, user/group field, or another approved</a:t>
                      </a:r>
                      <a:br/>
                      <a:r>
                        <a:rPr spc="38" sz="800">
                          <a:solidFill>
                            <a:srgbClr val="000000"/>
                          </a:solidFill>
                          <a:latin typeface="Roboto"/>
                        </a:rPr>
                        <a:t>recipient.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7" sz="800">
                          <a:solidFill>
                            <a:srgbClr val="000000"/>
                          </a:solidFill>
                          <a:latin typeface="Roboto"/>
                        </a:rPr>
                        <a:t>3 Create a clear subject containing the ticket reference and classification.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5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7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6" sz="800">
                          <a:solidFill>
                            <a:srgbClr val="000000"/>
                          </a:solidFill>
                          <a:latin typeface="Roboto"/>
                        </a:rPr>
                        <a:t>4 Use data pills in the message to show useful ticket information.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5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2" sz="800">
                          <a:solidFill>
                            <a:srgbClr val="000000"/>
                          </a:solidFill>
                          <a:latin typeface="Roboto"/>
                        </a:rPr>
                        <a:t>5 Save and validate the flow.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5" sz="800">
                          <a:solidFill>
                            <a:srgbClr val="000000"/>
                          </a:solidFill>
                          <a:latin typeface="Roboto"/>
                        </a:rPr>
                        <a:t>6 Test with controlled sample tickets.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36" sz="800">
                          <a:solidFill>
                            <a:srgbClr val="000000"/>
                          </a:solidFill>
                          <a:latin typeface="Roboto"/>
                        </a:rPr>
                        <a:t>7 Check the ticket record, classification and flow execution details.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1904" cap="flat" cmpd="sng" algn="ctr">
                      <a:solidFill>
                        <a:srgbClr val="d3d3d3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83820" algn="l">
                        <a:lnSpc>
                          <a:spcPts val="780"/>
                        </a:lnSpc>
                      </a:pPr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8 Check that the expected email was generated/queued according to the instance's email configuration.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1904" cap="flat" cmpd="sng" algn="ctr">
                      <a:solidFill>
                        <a:srgbClr val="d3d3d3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6290" y="4596130"/>
            <a:ext cx="19634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b="1" sz="1200">
                <a:solidFill>
                  <a:srgbClr val="000000"/>
                </a:solidFill>
                <a:latin typeface="Roboto"/>
              </a:rPr>
              <a:t>Action 3 – Email +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90" y="4852670"/>
            <a:ext cx="580136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900">
                <a:solidFill>
                  <a:srgbClr val="000000"/>
                </a:solidFill>
                <a:latin typeface="Roboto"/>
              </a:rPr>
              <a:t>1. Add email action — After the Update Record action, add the supported email action available in your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90" y="5011420"/>
            <a:ext cx="133604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sz="900">
                <a:solidFill>
                  <a:srgbClr val="000000"/>
                </a:solidFill>
                <a:latin typeface="Roboto"/>
              </a:rPr>
              <a:t>Flow Designer instance.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190" y="5208270"/>
            <a:ext cx="560832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9" sz="900">
                <a:solidFill>
                  <a:srgbClr val="000000"/>
                </a:solidFill>
                <a:latin typeface="Roboto"/>
              </a:rPr>
              <a:t>2. Configure recipient — Use an approved test recipient or the recipient field defined by the project.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90" y="5405120"/>
            <a:ext cx="550418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sz="900">
                <a:solidFill>
                  <a:srgbClr val="000000"/>
                </a:solidFill>
                <a:latin typeface="Roboto"/>
              </a:rPr>
              <a:t>3. Subject — Example: Auto Ticket Classified – [Ticket Number]. Use data pills for dynamic 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90" y="5601970"/>
            <a:ext cx="580136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sz="900">
                <a:solidFill>
                  <a:srgbClr val="000000"/>
                </a:solidFill>
                <a:latin typeface="Roboto"/>
              </a:rPr>
              <a:t>4. Email body — Include ticket number, short description, category, subcategory and final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90" y="5760720"/>
            <a:ext cx="67056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sz="900">
                <a:solidFill>
                  <a:srgbClr val="000000"/>
                </a:solidFill>
                <a:latin typeface="Roboto"/>
              </a:rPr>
              <a:t>as required.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90" y="5957570"/>
            <a:ext cx="401193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sz="900">
                <a:solidFill>
                  <a:srgbClr val="000000"/>
                </a:solidFill>
                <a:latin typeface="Roboto"/>
              </a:rPr>
              <a:t>5. Save and validate — Check that every data pill and recipient is valid.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90" y="6154420"/>
            <a:ext cx="567817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sz="900">
                <a:solidFill>
                  <a:srgbClr val="000000"/>
                </a:solidFill>
                <a:latin typeface="Roboto"/>
              </a:rPr>
              <a:t>6. Test matching ticket — Create a sample ticket that should match Rule 1 and verify classification 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90" y="6313170"/>
            <a:ext cx="344169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sz="900">
                <a:solidFill>
                  <a:srgbClr val="000000"/>
                </a:solidFill>
                <a:latin typeface="Roboto"/>
              </a:rPr>
              <a:t>email.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90" y="6510020"/>
            <a:ext cx="502793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sz="900">
                <a:solidFill>
                  <a:srgbClr val="000000"/>
                </a:solidFill>
                <a:latin typeface="Roboto"/>
              </a:rPr>
              <a:t>7. Test another rule — Create a sample ticket that should match a different classification.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90" y="6706870"/>
            <a:ext cx="555244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sz="900">
                <a:solidFill>
                  <a:srgbClr val="000000"/>
                </a:solidFill>
                <a:latin typeface="Roboto"/>
              </a:rPr>
              <a:t>8. Test fallback — Create a ticket that matches no rule and verify the configured fallback behavior.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90" y="6903720"/>
            <a:ext cx="572770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sz="900">
                <a:solidFill>
                  <a:srgbClr val="000000"/>
                </a:solidFill>
                <a:latin typeface="Roboto"/>
              </a:rPr>
              <a:t>9. Review execution — Use Flow Designer execution details to identify trigger, conditions, actions 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190" y="7062470"/>
            <a:ext cx="41275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sz="900">
                <a:solidFill>
                  <a:srgbClr val="000000"/>
                </a:solidFill>
                <a:latin typeface="Roboto"/>
              </a:rPr>
              <a:t>results.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290" y="7320280"/>
            <a:ext cx="24396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9" b="1" sz="1200">
                <a:solidFill>
                  <a:srgbClr val="000000"/>
                </a:solidFill>
                <a:latin typeface="Roboto"/>
              </a:rPr>
              <a:t>Complete automation model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810260" y="7550150"/>
          <a:ext cx="5939789" cy="5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508000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5" b="1" sz="850">
                          <a:solidFill>
                            <a:srgbClr val="000000"/>
                          </a:solidFill>
                          <a:latin typeface="Roboto"/>
                        </a:rPr>
                        <a:t>Ticket Created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03" b="1" sz="850">
                          <a:solidFill>
                            <a:srgbClr val="000000"/>
                          </a:solidFill>
                          <a:latin typeface="Roboto"/>
                        </a:rPr>
                        <a:t>Trigger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78" b="1" sz="850">
                          <a:solidFill>
                            <a:srgbClr val="000000"/>
                          </a:solidFill>
                          <a:latin typeface="Roboto"/>
                        </a:rPr>
                        <a:t>Classify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90"/>
                        </a:lnSpc>
                      </a:pPr>
                    </a:p>
                    <a:p>
                      <a:pPr algn="ctr">
                        <a:lnSpc>
                          <a:spcPts val="1100"/>
                        </a:lnSpc>
                      </a:pPr>
                      <a:r>
                        <a:rPr spc="113" b="1" sz="850">
                          <a:solidFill>
                            <a:srgbClr val="000000"/>
                          </a:solidFill>
                          <a:latin typeface="Roboto"/>
                        </a:rPr>
                        <a:t>Update</a:t>
                      </a:r>
                      <a:br/>
                      <a:r>
                        <a:rPr spc="79" b="1" sz="850">
                          <a:solidFill>
                            <a:srgbClr val="000000"/>
                          </a:solidFill>
                          <a:latin typeface="Roboto"/>
                        </a:rPr>
                        <a:t>Classification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8" b="1" sz="850">
                          <a:solidFill>
                            <a:srgbClr val="000000"/>
                          </a:solidFill>
                          <a:latin typeface="Roboto"/>
                        </a:rPr>
                        <a:t>Send Email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79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96290" y="8310880"/>
            <a:ext cx="22733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7" b="1" sz="1200">
                <a:solidFill>
                  <a:srgbClr val="000000"/>
                </a:solidFill>
                <a:latin typeface="Roboto"/>
              </a:rPr>
              <a:t>Example email data model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10260" y="8540750"/>
          <a:ext cx="5939790" cy="1257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9250"/>
                <a:gridCol w="4320540"/>
              </a:tblGrid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Item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7" sz="800">
                          <a:solidFill>
                            <a:srgbClr val="000000"/>
                          </a:solidFill>
                          <a:latin typeface="Roboto"/>
                        </a:rPr>
                        <a:t>Example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5" sz="800">
                          <a:solidFill>
                            <a:srgbClr val="000000"/>
                          </a:solidFill>
                          <a:latin typeface="Roboto"/>
                        </a:rPr>
                        <a:t>Subject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1" sz="800">
                          <a:solidFill>
                            <a:srgbClr val="000000"/>
                          </a:solidFill>
                          <a:latin typeface="Roboto"/>
                        </a:rPr>
                        <a:t>Auto Ticket Classified – [Ticket Number]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29" sz="800">
                          <a:solidFill>
                            <a:srgbClr val="000000"/>
                          </a:solidFill>
                          <a:latin typeface="Roboto"/>
                        </a:rPr>
                        <a:t>Ticket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8" sz="800">
                          <a:solidFill>
                            <a:srgbClr val="000000"/>
                          </a:solidFill>
                          <a:latin typeface="Roboto"/>
                        </a:rPr>
                        <a:t>Use Ticket Number data pill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5" sz="800">
                          <a:solidFill>
                            <a:srgbClr val="000000"/>
                          </a:solidFill>
                          <a:latin typeface="Roboto"/>
                        </a:rPr>
                        <a:t>Category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1" sz="800">
                          <a:solidFill>
                            <a:srgbClr val="000000"/>
                          </a:solidFill>
                          <a:latin typeface="Roboto"/>
                        </a:rPr>
                        <a:t>Use Category data pill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2" sz="800">
                          <a:solidFill>
                            <a:srgbClr val="000000"/>
                          </a:solidFill>
                          <a:latin typeface="Roboto"/>
                        </a:rPr>
                        <a:t>Subcategory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Use Subcategory data pill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22" sz="800">
                          <a:solidFill>
                            <a:srgbClr val="000000"/>
                          </a:solidFill>
                          <a:latin typeface="Roboto"/>
                        </a:rPr>
                        <a:t>Classification</a:t>
                      </a:r>
                    </a:p>
                  </a:txBody>
                  <a:tcPr marL="0" marR="0" marT="0" marB="0" vert="horz">
                    <a:lnL w="253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3660" algn="l">
                        <a:lnSpc>
                          <a:spcPts val="780"/>
                        </a:lnSpc>
                      </a:pPr>
                      <a:r>
                        <a:rPr spc="30" sz="800">
                          <a:solidFill>
                            <a:srgbClr val="000000"/>
                          </a:solidFill>
                          <a:latin typeface="Roboto"/>
                        </a:rPr>
                        <a:t>Use Classification data pill</a:t>
                      </a:r>
                    </a:p>
                  </a:txBody>
                  <a:tcPr marL="0" marR="0" marT="0" marB="0" vert="horz">
                    <a:lnL w="2540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2540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254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2540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769620"/>
            <a:ext cx="4304030" cy="1904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6" b="1" sz="1500">
                <a:solidFill>
                  <a:srgbClr val="000000"/>
                </a:solidFill>
                <a:latin typeface="Roboto"/>
              </a:rPr>
              <a:t>MILESTONE 3 – COMPLETION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082040"/>
            <a:ext cx="459613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sz="900">
                <a:solidFill>
                  <a:srgbClr val="000000"/>
                </a:solidFill>
                <a:latin typeface="Roboto"/>
              </a:rPr>
              <a:t>Use this checklist before moving to the final testing/documentation milestone.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0260" y="1289050"/>
          <a:ext cx="5939789" cy="1257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890"/>
                <a:gridCol w="4067810"/>
                <a:gridCol w="720089"/>
              </a:tblGrid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25" sz="800">
                          <a:solidFill>
                            <a:srgbClr val="000000"/>
                          </a:solidFill>
                          <a:latin typeface="Roboto"/>
                        </a:rPr>
                        <a:t>Action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9" sz="800">
                          <a:solidFill>
                            <a:srgbClr val="000000"/>
                          </a:solidFill>
                          <a:latin typeface="Roboto"/>
                        </a:rPr>
                        <a:t>Completion item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3" sz="800">
                          <a:solidFill>
                            <a:srgbClr val="000000"/>
                          </a:solidFill>
                          <a:latin typeface="Roboto"/>
                        </a:rPr>
                        <a:t>Status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e8edf6">
                        <a:alpha val="100000"/>
                      </a:srgbClr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2" sz="800">
                          <a:solidFill>
                            <a:srgbClr val="000000"/>
                          </a:solidFill>
                          <a:latin typeface="Roboto"/>
                        </a:rPr>
                        <a:t>Action 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8" sz="800">
                          <a:solidFill>
                            <a:srgbClr val="000000"/>
                          </a:solidFill>
                          <a:latin typeface="Roboto"/>
                        </a:rPr>
                        <a:t>Flow created with correct ticket trigger and trigger conditions.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-100" sz="80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2" sz="800">
                          <a:solidFill>
                            <a:srgbClr val="000000"/>
                          </a:solidFill>
                          <a:latin typeface="Roboto"/>
                        </a:rPr>
                        <a:t>Action 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4" sz="800">
                          <a:solidFill>
                            <a:srgbClr val="000000"/>
                          </a:solidFill>
                          <a:latin typeface="Roboto"/>
                        </a:rPr>
                        <a:t>Classification logic and Update Record action configured.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-100" sz="80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2" sz="800">
                          <a:solidFill>
                            <a:srgbClr val="000000"/>
                          </a:solidFill>
                          <a:latin typeface="Roboto"/>
                        </a:rPr>
                        <a:t>Action 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6" sz="800">
                          <a:solidFill>
                            <a:srgbClr val="000000"/>
                          </a:solidFill>
                          <a:latin typeface="Roboto"/>
                        </a:rPr>
                        <a:t>Email notification configured and sample tests completed.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-100" sz="80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29" sz="800">
                          <a:solidFill>
                            <a:srgbClr val="000000"/>
                          </a:solidFill>
                          <a:latin typeface="Roboto"/>
                        </a:rPr>
                        <a:t>Testing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8" sz="800">
                          <a:solidFill>
                            <a:srgbClr val="000000"/>
                          </a:solidFill>
                          <a:latin typeface="Roboto"/>
                        </a:rPr>
                        <a:t>Matching, alternate-rule and fallback scenarios tested.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59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-100" sz="80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33" sz="800">
                          <a:solidFill>
                            <a:srgbClr val="000000"/>
                          </a:solidFill>
                          <a:latin typeface="Roboto"/>
                        </a:rPr>
                        <a:t>Validation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40" sz="800">
                          <a:solidFill>
                            <a:srgbClr val="000000"/>
                          </a:solidFill>
                          <a:latin typeface="Roboto"/>
                        </a:rPr>
                        <a:t>Flow execution details reviewed and errors corrected.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470"/>
                        </a:lnSpc>
                      </a:pPr>
                    </a:p>
                    <a:p>
                      <a:pPr marL="72390" algn="l">
                        <a:lnSpc>
                          <a:spcPts val="780"/>
                        </a:lnSpc>
                      </a:pPr>
                      <a:r>
                        <a:rPr spc="-100" sz="800">
                          <a:solidFill>
                            <a:srgbClr val="000000"/>
                          </a:solidFill>
                          <a:latin typeface="Roboto"/>
                        </a:rPr>
                        <a:t>☐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6290" y="2799080"/>
            <a:ext cx="20154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7" b="1" sz="1200">
                <a:solidFill>
                  <a:srgbClr val="000000"/>
                </a:solidFill>
                <a:latin typeface="Roboto"/>
              </a:rPr>
              <a:t>Milestone 3 final model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10260" y="3028950"/>
          <a:ext cx="5939789" cy="36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7450"/>
                <a:gridCol w="1188720"/>
                <a:gridCol w="1187449"/>
                <a:gridCol w="1188720"/>
                <a:gridCol w="1187450"/>
              </a:tblGrid>
              <a:tr h="368300"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04" b="1" sz="850">
                          <a:solidFill>
                            <a:srgbClr val="000000"/>
                          </a:solidFill>
                          <a:latin typeface="Roboto"/>
                        </a:rPr>
                        <a:t>Trigger</a:t>
                      </a:r>
                    </a:p>
                  </a:txBody>
                  <a:tcPr marL="0" marR="0" marT="0" marB="0" vert="horz">
                    <a:lnL w="5079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87" b="1" sz="850">
                          <a:solidFill>
                            <a:srgbClr val="000000"/>
                          </a:solidFill>
                          <a:latin typeface="Roboto"/>
                        </a:rPr>
                        <a:t>Decision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79" b="1" sz="850">
                          <a:solidFill>
                            <a:srgbClr val="000000"/>
                          </a:solidFill>
                          <a:latin typeface="Roboto"/>
                        </a:rPr>
                        <a:t>Classification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104" b="1" sz="850">
                          <a:solidFill>
                            <a:srgbClr val="000000"/>
                          </a:solidFill>
                          <a:latin typeface="Roboto"/>
                        </a:rPr>
                        <a:t>Record Update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60"/>
                        </a:lnSpc>
                      </a:pPr>
                    </a:p>
                    <a:p>
                      <a:pPr algn="ctr">
                        <a:lnSpc>
                          <a:spcPts val="830"/>
                        </a:lnSpc>
                      </a:pPr>
                      <a:r>
                        <a:rPr spc="91" b="1" sz="850">
                          <a:solidFill>
                            <a:srgbClr val="000000"/>
                          </a:solidFill>
                          <a:latin typeface="Roboto"/>
                        </a:rPr>
                        <a:t>Email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808080">
                          <a:alpha val="100000"/>
                        </a:srgbClr>
                      </a:solidFill>
                    </a:lnL>
                    <a:lnR w="5079" cap="flat" cmpd="sng" algn="ctr">
                      <a:solidFill>
                        <a:srgbClr val="808080">
                          <a:alpha val="100000"/>
                        </a:srgbClr>
                      </a:solidFill>
                    </a:lnR>
                    <a:lnT w="5080" cap="flat" cmpd="sng" algn="ctr">
                      <a:solidFill>
                        <a:srgbClr val="808080">
                          <a:alpha val="100000"/>
                        </a:srgbClr>
                      </a:solidFill>
                    </a:lnT>
                    <a:lnB w="5079" cap="flat" cmpd="sng" algn="ctr">
                      <a:solidFill>
                        <a:srgbClr val="808080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96290" y="3573779"/>
            <a:ext cx="268732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1" sz="800">
                <a:solidFill>
                  <a:srgbClr val="000000"/>
                </a:solidFill>
                <a:latin typeface="Roboto"/>
              </a:rPr>
              <a:t>Project: Auto Ticket Classification using Flow Designer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290" y="3707129"/>
            <a:ext cx="3884930" cy="990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5" sz="800">
                <a:solidFill>
                  <a:srgbClr val="000000"/>
                </a:solidFill>
                <a:latin typeface="Roboto"/>
              </a:rPr>
              <a:t>Document: Milestone 3 – Automation using Flow Designer &amp; Email Notification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90" y="3844290"/>
            <a:ext cx="5797550" cy="116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8" sz="900">
                <a:solidFill>
                  <a:srgbClr val="000000"/>
                </a:solidFill>
                <a:latin typeface="Roboto"/>
              </a:rPr>
              <a:t>Next step: End-to-end testing, screenshots/evidence, error handling, deployment/activation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290" y="4015740"/>
            <a:ext cx="1913889" cy="116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5" sz="900">
                <a:solidFill>
                  <a:srgbClr val="000000"/>
                </a:solidFill>
                <a:latin typeface="Roboto"/>
              </a:rPr>
              <a:t>and final project documentation.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0261600"/>
            <a:ext cx="2773679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750">
                <a:solidFill>
                  <a:srgbClr val="000000"/>
                </a:solidFill>
                <a:latin typeface="Roboto"/>
              </a:rPr>
              <a:t>Auto Ticket Classification using Flow Designer – Milestone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5109" y="10261600"/>
            <a:ext cx="3175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750">
                <a:solidFill>
                  <a:srgbClr val="000000"/>
                </a:solidFill>
                <a:latin typeface="Roboto"/>
              </a:rPr>
              <a:t>Page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