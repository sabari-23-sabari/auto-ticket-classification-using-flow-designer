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3950" y="784860"/>
            <a:ext cx="531241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9" b="1" sz="2000">
                <a:solidFill>
                  <a:srgbClr val="000000"/>
                </a:solidFill>
                <a:latin typeface="Roboto"/>
              </a:rPr>
              <a:t>AUTO TICKET CLASSIFICATION 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4610" y="1102360"/>
            <a:ext cx="237109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9" b="1" sz="2000">
                <a:solidFill>
                  <a:srgbClr val="000000"/>
                </a:solidFill>
                <a:latin typeface="Roboto"/>
              </a:rPr>
              <a:t>FLOW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582420"/>
            <a:ext cx="498221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8" b="1" sz="1500">
                <a:solidFill>
                  <a:srgbClr val="000000"/>
                </a:solidFill>
                <a:latin typeface="Roboto"/>
              </a:rPr>
              <a:t>Milestone 1: Requirement Analysis &amp;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908810"/>
            <a:ext cx="58686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950">
                <a:solidFill>
                  <a:srgbClr val="000000"/>
                </a:solidFill>
                <a:latin typeface="Roboto"/>
              </a:rPr>
              <a:t>Activities: 1) Business Use Case  2) Creation of New Update Set  3) Navigation Steps in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2086610"/>
            <a:ext cx="2882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50">
                <a:solidFill>
                  <a:srgbClr val="000000"/>
                </a:solidFill>
                <a:latin typeface="Roboto"/>
              </a:rPr>
              <a:t>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2374900"/>
          <a:ext cx="5939789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630"/>
                <a:gridCol w="1484630"/>
                <a:gridCol w="1485900"/>
                <a:gridCol w="1484629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33" b="1" sz="900">
                          <a:solidFill>
                            <a:srgbClr val="000000"/>
                          </a:solidFill>
                          <a:latin typeface="Roboto"/>
                        </a:rPr>
                        <a:t>Requirement</a:t>
                      </a:r>
                      <a:br/>
                      <a:r>
                        <a:rPr spc="106" b="1" sz="900">
                          <a:solidFill>
                            <a:srgbClr val="000000"/>
                          </a:solidFill>
                          <a:latin typeface="Roboto"/>
                        </a:rPr>
                        <a:t>Analysis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8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28" b="1" sz="900">
                          <a:solidFill>
                            <a:srgbClr val="000000"/>
                          </a:solidFill>
                          <a:latin typeface="Roboto"/>
                        </a:rPr>
                        <a:t>Update Set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19" b="1" sz="900">
                          <a:solidFill>
                            <a:srgbClr val="000000"/>
                          </a:solidFill>
                          <a:latin typeface="Roboto"/>
                        </a:rPr>
                        <a:t>Flow Designer</a:t>
                      </a:r>
                      <a:br/>
                      <a:r>
                        <a:rPr spc="119" b="1" sz="900">
                          <a:solidFill>
                            <a:srgbClr val="000000"/>
                          </a:solidFill>
                          <a:latin typeface="Roboto"/>
                        </a:rPr>
                        <a:t>Navigation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98" b="1" sz="900">
                          <a:solidFill>
                            <a:srgbClr val="000000"/>
                          </a:solidFill>
                          <a:latin typeface="Roboto"/>
                        </a:rPr>
                        <a:t>Ready for Milestone </a:t>
                      </a:r>
                      <a:r>
                        <a:rPr spc="124" b="1" sz="90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3224530"/>
            <a:ext cx="147574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1" b="1" sz="1200">
                <a:solidFill>
                  <a:srgbClr val="000000"/>
                </a:solidFill>
                <a:latin typeface="Roboto"/>
              </a:rP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483610"/>
            <a:ext cx="57188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50">
                <a:solidFill>
                  <a:srgbClr val="000000"/>
                </a:solidFill>
                <a:latin typeface="Roboto"/>
              </a:rPr>
              <a:t>Automatically classify incoming ServiceNow tickets (for example, Incidents) based on selected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3661410"/>
            <a:ext cx="55168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950">
                <a:solidFill>
                  <a:srgbClr val="000000"/>
                </a:solidFill>
                <a:latin typeface="Roboto"/>
              </a:rPr>
              <a:t>ticket information such as category, short description, keywords or other agreed rules, 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839210"/>
            <a:ext cx="59309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50">
                <a:solidFill>
                  <a:srgbClr val="000000"/>
                </a:solidFill>
                <a:latin typeface="Roboto"/>
              </a:rPr>
              <a:t>route/update the ticket with the appropriate classification. The automation is designed using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4017010"/>
            <a:ext cx="57911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950">
                <a:solidFill>
                  <a:srgbClr val="000000"/>
                </a:solidFill>
                <a:latin typeface="Roboto"/>
              </a:rPr>
              <a:t>Designer.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" y="4253230"/>
            <a:ext cx="56515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800">
                <a:solidFill>
                  <a:srgbClr val="000000"/>
                </a:solidFill>
                <a:latin typeface="Roboto"/>
              </a:rPr>
              <a:t>Important: The exact field names, application scope and available actions can vary by ServiceNow release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" y="4392930"/>
            <a:ext cx="36906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800">
                <a:solidFill>
                  <a:srgbClr val="000000"/>
                </a:solidFill>
                <a:latin typeface="Roboto"/>
              </a:rPr>
              <a:t>instance configuration. Use the fields/actions that exist in your instance.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0259060"/>
            <a:ext cx="284987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750">
                <a:solidFill>
                  <a:srgbClr val="000000"/>
                </a:solidFill>
                <a:latin typeface="Roboto"/>
              </a:rPr>
              <a:t>Auto Ticket Classification using Flow Designer – Milestone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6220" y="10259060"/>
            <a:ext cx="3263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75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1 – 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103630"/>
            <a:ext cx="159384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b="1" sz="1200">
                <a:solidFill>
                  <a:srgbClr val="000000"/>
                </a:solidFill>
                <a:latin typeface="Roboto"/>
              </a:rPr>
              <a:t>Business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62710"/>
            <a:ext cx="59690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50">
                <a:solidFill>
                  <a:srgbClr val="000000"/>
                </a:solidFill>
                <a:latin typeface="Roboto"/>
              </a:rPr>
              <a:t>A support team receives many tickets. Manually reading every ticket and deciding its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40510"/>
            <a:ext cx="58521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50">
                <a:solidFill>
                  <a:srgbClr val="000000"/>
                </a:solidFill>
                <a:latin typeface="Roboto"/>
              </a:rPr>
              <a:t>takes time and can create inconsistent routing. The proposed solution uses a Flow Designer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718310"/>
            <a:ext cx="53936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50">
                <a:solidFill>
                  <a:srgbClr val="000000"/>
                </a:solidFill>
                <a:latin typeface="Roboto"/>
              </a:rPr>
              <a:t>to evaluate a new/updated ticket and automatically apply the agreed classification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1930400"/>
          <a:ext cx="593979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00" b="1" sz="900">
                          <a:solidFill>
                            <a:srgbClr val="000000"/>
                          </a:solidFill>
                          <a:latin typeface="Roboto"/>
                        </a:rPr>
                        <a:t>PICTURE VIEW – BUSINESS USE CASE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8" sz="800">
                          <a:solidFill>
                            <a:srgbClr val="000000"/>
                          </a:solidFill>
                          <a:latin typeface="Roboto"/>
                        </a:rPr>
                        <a:t>1 User / Employee submits an Incident.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000000"/>
                          </a:solidFill>
                          <a:latin typeface="Roboto"/>
                        </a:rPr>
                        <a:t>2 ServiceNow creates the ticket in the Incident table.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000000"/>
                          </a:solidFill>
                          <a:latin typeface="Roboto"/>
                        </a:rPr>
                        <a:t>3 Flow Designer trigger detects the qualifying record.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4 Flow checks conditions / decision logic.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5 Classification is applied to the ticket.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6 Optional next step: assign group, priority, notification or task.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4227830"/>
            <a:ext cx="29095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200">
                <a:solidFill>
                  <a:srgbClr val="000000"/>
                </a:solidFill>
                <a:latin typeface="Roboto"/>
              </a:rPr>
              <a:t>Action 1 – Define the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890" y="4485640"/>
            <a:ext cx="57645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00">
                <a:solidFill>
                  <a:srgbClr val="000000"/>
                </a:solidFill>
                <a:latin typeface="Roboto"/>
              </a:rPr>
              <a:t>1. Identify the source — Use the Incident table (or the specific ticket table selected for your project).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890" y="4688840"/>
            <a:ext cx="57188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2. Identify the trigger — Typical starting point: a record is created; use updated/created-or-updated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890" y="4853940"/>
            <a:ext cx="20993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only if required by the business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890" y="5057140"/>
            <a:ext cx="57835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900">
                <a:solidFill>
                  <a:srgbClr val="000000"/>
                </a:solidFill>
                <a:latin typeface="Roboto"/>
              </a:rPr>
              <a:t>3. Identify input fields — Example: Short description, Description, Category, Subcategory, Service,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890" y="5222240"/>
            <a:ext cx="15138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and other approved fields.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890" y="5425440"/>
            <a:ext cx="56527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4. Define classification rules — Write simple, testable rules. Example: tickets containing an agreed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890" y="5590540"/>
            <a:ext cx="36372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keyword or category are mapped to a predefined classification.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890" y="5793740"/>
            <a:ext cx="56299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5. Define the output — Specify exactly which field(s) Flow Designer should update and what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890" y="5958840"/>
            <a:ext cx="103504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should be written.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890" y="6162040"/>
            <a:ext cx="57645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00">
                <a:solidFill>
                  <a:srgbClr val="000000"/>
                </a:solidFill>
                <a:latin typeface="Roboto"/>
              </a:rPr>
              <a:t>6. Define exceptions — Decide what happens when no rule matches: leave unchanged, set a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890" y="6327140"/>
            <a:ext cx="23520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classification, or send for manual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" y="6602730"/>
            <a:ext cx="2345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b="1" sz="1200">
                <a:solidFill>
                  <a:srgbClr val="000000"/>
                </a:solidFill>
                <a:latin typeface="Roboto"/>
              </a:rPr>
              <a:t>Example requirement table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0260" y="6832600"/>
          <a:ext cx="5939790" cy="1511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250"/>
                <a:gridCol w="4320540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3" sz="800">
                          <a:solidFill>
                            <a:srgbClr val="000000"/>
                          </a:solidFill>
                          <a:latin typeface="Roboto"/>
                        </a:rPr>
                        <a:t>Item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60" sz="800">
                          <a:solidFill>
                            <a:srgbClr val="000000"/>
                          </a:solidFill>
                          <a:latin typeface="Roboto"/>
                        </a:rPr>
                        <a:t>Example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Source table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3" sz="800">
                          <a:solidFill>
                            <a:srgbClr val="000000"/>
                          </a:solidFill>
                          <a:latin typeface="Roboto"/>
                        </a:rPr>
                        <a:t>Incident [incident]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7" sz="80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2" sz="800">
                          <a:solidFill>
                            <a:srgbClr val="000000"/>
                          </a:solidFill>
                          <a:latin typeface="Roboto"/>
                        </a:rPr>
                        <a:t>When an Incident is created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1" sz="800">
                          <a:solidFill>
                            <a:srgbClr val="000000"/>
                          </a:solidFill>
                          <a:latin typeface="Roboto"/>
                        </a:rPr>
                        <a:t>Input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Short description / Category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0" sz="800">
                          <a:solidFill>
                            <a:srgbClr val="000000"/>
                          </a:solidFill>
                          <a:latin typeface="Roboto"/>
                        </a:rPr>
                        <a:t>Logic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If agreed condition matches, select 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62" sz="800">
                          <a:solidFill>
                            <a:srgbClr val="000000"/>
                          </a:solidFill>
                          <a:latin typeface="Roboto"/>
                        </a:rPr>
                        <a:t>Output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Update the agreed classification field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Fallback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2" sz="800">
                          <a:solidFill>
                            <a:srgbClr val="000000"/>
                          </a:solidFill>
                          <a:latin typeface="Roboto"/>
                        </a:rPr>
                        <a:t>Manual review or default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7700" y="10259060"/>
            <a:ext cx="284987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750">
                <a:solidFill>
                  <a:srgbClr val="000000"/>
                </a:solidFill>
                <a:latin typeface="Roboto"/>
              </a:rPr>
              <a:t>Auto Ticket Classification using Flow Designer – Milestone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6220" y="10259060"/>
            <a:ext cx="3263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75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1 – 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103630"/>
            <a:ext cx="23926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b="1" sz="1200">
                <a:solidFill>
                  <a:srgbClr val="000000"/>
                </a:solidFill>
                <a:latin typeface="Roboto"/>
              </a:rPr>
              <a:t>Creation of New Update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62710"/>
            <a:ext cx="548005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50">
                <a:solidFill>
                  <a:srgbClr val="000000"/>
                </a:solidFill>
                <a:latin typeface="Roboto"/>
              </a:rPr>
              <a:t>An Update Set groups configuration changes so that related customizations can be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40510"/>
            <a:ext cx="55587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50">
                <a:solidFill>
                  <a:srgbClr val="000000"/>
                </a:solidFill>
                <a:latin typeface="Roboto"/>
              </a:rPr>
              <a:t>between ServiceNow instances, subject to the instance's application scope and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718310"/>
            <a:ext cx="54584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50">
                <a:solidFill>
                  <a:srgbClr val="000000"/>
                </a:solidFill>
                <a:latin typeface="Roboto"/>
              </a:rPr>
              <a:t>process. For this project, create a dedicated Update Set before building the Flow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1896110"/>
            <a:ext cx="83819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50">
                <a:solidFill>
                  <a:srgbClr val="000000"/>
                </a:solidFill>
                <a:latin typeface="Roboto"/>
              </a:rPr>
              <a:t>configuration.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0260" y="2108200"/>
          <a:ext cx="5939790" cy="248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00" b="1" sz="900">
                          <a:solidFill>
                            <a:srgbClr val="000000"/>
                          </a:solidFill>
                          <a:latin typeface="Roboto"/>
                        </a:rPr>
                        <a:t>PICTURE VIEW – UPDATE SET NAVIGATION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1 Application Navigator / All → search for 'Update Sets'.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2" sz="800">
                          <a:solidFill>
                            <a:srgbClr val="000000"/>
                          </a:solidFill>
                          <a:latin typeface="Roboto"/>
                        </a:rPr>
                        <a:t>2 Open the Update Sets list (module name can vary by release/interface).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2" sz="800">
                          <a:solidFill>
                            <a:srgbClr val="000000"/>
                          </a:solidFill>
                          <a:latin typeface="Roboto"/>
                        </a:rPr>
                        <a:t>3 Select the appropriate Update Set area and choose New.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000000"/>
                          </a:solidFill>
                          <a:latin typeface="Roboto"/>
                        </a:rPr>
                        <a:t>4 Enter a clear Name, for example: ATC_Flow_Designer_M1.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000000"/>
                          </a:solidFill>
                          <a:latin typeface="Roboto"/>
                        </a:rPr>
                        <a:t>5 Set the required State according to your team's process; commonly begin in an editable/in-progress state.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5" sz="800">
                          <a:solidFill>
                            <a:srgbClr val="000000"/>
                          </a:solidFill>
                          <a:latin typeface="Roboto"/>
                        </a:rPr>
                        <a:t>6 Save the record.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ts val="480"/>
                        </a:lnSpc>
                      </a:pPr>
                    </a:p>
                    <a:p>
                      <a:pPr marL="96520" algn="l">
                        <a:lnSpc>
                          <a:spcPts val="1100"/>
                        </a:lnSpc>
                      </a:pPr>
                      <a:r>
                        <a:rPr spc="53" sz="800">
                          <a:solidFill>
                            <a:srgbClr val="000000"/>
                          </a:solidFill>
                          <a:latin typeface="Roboto"/>
                        </a:rPr>
                        <a:t>7 Make the new Update Set the current Update Set before making configuration changes, if your</a:t>
                      </a:r>
                      <a:br/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instance/process requires this.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6290" y="4837430"/>
            <a:ext cx="28079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b="1" sz="1200">
                <a:solidFill>
                  <a:srgbClr val="000000"/>
                </a:solidFill>
                <a:latin typeface="Roboto"/>
              </a:rPr>
              <a:t>Action 2 – Create the Update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890" y="5095240"/>
            <a:ext cx="55613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1. Open Application Navigator — From the ServiceNow left navigation, use the filter to search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890" y="5260340"/>
            <a:ext cx="7340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Update 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890" y="5463540"/>
            <a:ext cx="56718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2. Open the Update Set module — Choose the module that lists local Update Sets in your instance.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890" y="5666740"/>
            <a:ext cx="27686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900">
                <a:solidFill>
                  <a:srgbClr val="000000"/>
                </a:solidFill>
                <a:latin typeface="Roboto"/>
              </a:rPr>
              <a:t>3. Click New — Create a new Update Set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890" y="5869940"/>
            <a:ext cx="57899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00">
                <a:solidFill>
                  <a:srgbClr val="000000"/>
                </a:solidFill>
                <a:latin typeface="Roboto"/>
              </a:rPr>
              <a:t>4. Enter the name — Suggested: ATC_Flow_Designer_M1. Use your organization's naming standard 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890" y="6035040"/>
            <a:ext cx="52577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890" y="6238240"/>
            <a:ext cx="52489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900">
                <a:solidFill>
                  <a:srgbClr val="000000"/>
                </a:solidFill>
                <a:latin typeface="Roboto"/>
              </a:rPr>
              <a:t>5. Add description — Example: 'Auto Ticket Classification using Flow Designer – Milestone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890" y="6403340"/>
            <a:ext cx="82549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configuration.'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890" y="6606540"/>
            <a:ext cx="34404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900">
                <a:solidFill>
                  <a:srgbClr val="000000"/>
                </a:solidFill>
                <a:latin typeface="Roboto"/>
              </a:rPr>
              <a:t>6. Save — Save the Update Set and verify the record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890" y="6809740"/>
            <a:ext cx="57150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7. Set as current — If your workflow uses current Update Sets, select this Update Set as the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890" y="6974840"/>
            <a:ext cx="2393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00">
                <a:solidFill>
                  <a:srgbClr val="000000"/>
                </a:solidFill>
                <a:latin typeface="Roboto"/>
              </a:rPr>
              <a:t>one before creating project configuration.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" y="7250430"/>
            <a:ext cx="2456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b="1" sz="1200">
                <a:solidFill>
                  <a:srgbClr val="000000"/>
                </a:solidFill>
                <a:latin typeface="Roboto"/>
              </a:rPr>
              <a:t>Suggested Update Set fields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10260" y="7480300"/>
          <a:ext cx="5939790" cy="1079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250"/>
                <a:gridCol w="4320540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Field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5" sz="800">
                          <a:solidFill>
                            <a:srgbClr val="000000"/>
                          </a:solidFill>
                          <a:latin typeface="Roboto"/>
                        </a:rPr>
                        <a:t>Suggested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7" sz="800">
                          <a:solidFill>
                            <a:srgbClr val="000000"/>
                          </a:solidFill>
                          <a:latin typeface="Roboto"/>
                        </a:rPr>
                        <a:t>Name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ATC_Flow_Designer_M1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5" sz="800">
                          <a:solidFill>
                            <a:srgbClr val="000000"/>
                          </a:solidFill>
                          <a:latin typeface="Roboto"/>
                        </a:rPr>
                        <a:t>Auto Ticket Classification – Milestone 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2" sz="800">
                          <a:solidFill>
                            <a:srgbClr val="000000"/>
                          </a:solidFill>
                          <a:latin typeface="Roboto"/>
                        </a:rPr>
                        <a:t>State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Use the editable/in-progress state required by your instance process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Scope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Use the application scope required for your Flow Designer project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7700" y="10259060"/>
            <a:ext cx="284987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750">
                <a:solidFill>
                  <a:srgbClr val="000000"/>
                </a:solidFill>
                <a:latin typeface="Roboto"/>
              </a:rPr>
              <a:t>Auto Ticket Classification using Flow Designer – Milestone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6220" y="10259060"/>
            <a:ext cx="3263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75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1 – 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103630"/>
            <a:ext cx="2819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3" b="1" sz="1200">
                <a:solidFill>
                  <a:srgbClr val="000000"/>
                </a:solidFill>
                <a:latin typeface="Roboto"/>
              </a:rPr>
              <a:t>Navigation Steps in Picture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62710"/>
            <a:ext cx="58140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50">
                <a:solidFill>
                  <a:srgbClr val="000000"/>
                </a:solidFill>
                <a:latin typeface="Roboto"/>
              </a:rPr>
              <a:t>The following is a picture-style model of the navigation. It is a project guide, not a screenshot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40510"/>
            <a:ext cx="58178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50">
                <a:solidFill>
                  <a:srgbClr val="000000"/>
                </a:solidFill>
                <a:latin typeface="Roboto"/>
              </a:rPr>
              <a:t>your ServiceNow instance. Menu labels can differ slightly by ServiceNow release, UI experience,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718310"/>
            <a:ext cx="10718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50">
                <a:solidFill>
                  <a:srgbClr val="000000"/>
                </a:solidFill>
                <a:latin typeface="Roboto"/>
              </a:rPr>
              <a:t>roles and plugins.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1930400"/>
          <a:ext cx="5939790" cy="322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04" b="1" sz="900">
                          <a:solidFill>
                            <a:srgbClr val="000000"/>
                          </a:solidFill>
                          <a:latin typeface="Roboto"/>
                        </a:rPr>
                        <a:t>PICTURE VIEW – SERVICE NOW MODEL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6" sz="800">
                          <a:solidFill>
                            <a:srgbClr val="000000"/>
                          </a:solidFill>
                          <a:latin typeface="Roboto"/>
                        </a:rPr>
                        <a:t>1 Step 1: Log in → open ServiceNow.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8" sz="800">
                          <a:solidFill>
                            <a:srgbClr val="000000"/>
                          </a:solidFill>
                          <a:latin typeface="Roboto"/>
                        </a:rPr>
                        <a:t>2 Step 2: Left Navigator → search 'Update Sets'.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0" sz="800">
                          <a:solidFill>
                            <a:srgbClr val="000000"/>
                          </a:solidFill>
                          <a:latin typeface="Roboto"/>
                        </a:rPr>
                        <a:t>3 Step 3: Create/save the Milestone 1 Update Set.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7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1" sz="800">
                          <a:solidFill>
                            <a:srgbClr val="000000"/>
                          </a:solidFill>
                          <a:latin typeface="Roboto"/>
                        </a:rPr>
                        <a:t>4 Step 4: Open Flow Designer from the Application Navigator.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5 Step 5: Select New → Flow.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6 Step 6: Give the flow a clear name, e.g. 'Auto Ticket Classification'.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8" sz="800">
                          <a:solidFill>
                            <a:srgbClr val="000000"/>
                          </a:solidFill>
                          <a:latin typeface="Roboto"/>
                        </a:rPr>
                        <a:t>7 Step 7: Select the appropriate trigger/table for the ticket process.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8 Step 8: Add conditions / decision logic.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47" sz="800">
                          <a:solidFill>
                            <a:srgbClr val="000000"/>
                          </a:solidFill>
                          <a:latin typeface="Roboto"/>
                        </a:rPr>
                        <a:t>9 Step 9: Add the action that updates the classification.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96520" algn="l">
                        <a:lnSpc>
                          <a:spcPts val="800"/>
                        </a:lnSpc>
                      </a:pPr>
                      <a:r>
                        <a:rPr spc="53" sz="800">
                          <a:solidFill>
                            <a:srgbClr val="000000"/>
                          </a:solidFill>
                          <a:latin typeface="Roboto"/>
                        </a:rPr>
                        <a:t>10 Step 10: Save, validate and test according to your development process.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5396230"/>
            <a:ext cx="30784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b="1" sz="1200">
                <a:solidFill>
                  <a:srgbClr val="000000"/>
                </a:solidFill>
                <a:latin typeface="Roboto"/>
              </a:rPr>
              <a:t>Action 3 – Flow Designer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890" y="5654040"/>
            <a:ext cx="57048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00">
                <a:solidFill>
                  <a:srgbClr val="000000"/>
                </a:solidFill>
                <a:latin typeface="Roboto"/>
              </a:rPr>
              <a:t>1. Open Flow Designer — Use the Application Navigator and search for Flow Designer, then open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890" y="5857240"/>
            <a:ext cx="58661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2. Create a new flow — Choose the option for creating a Flow. Give it a meaningful name such as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890" y="6022340"/>
            <a:ext cx="117474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sz="900">
                <a:solidFill>
                  <a:srgbClr val="000000"/>
                </a:solidFill>
                <a:latin typeface="Roboto"/>
              </a:rPr>
              <a:t>Ticket Classification.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890" y="6225540"/>
            <a:ext cx="51346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900">
                <a:solidFill>
                  <a:srgbClr val="000000"/>
                </a:solidFill>
                <a:latin typeface="Roboto"/>
              </a:rPr>
              <a:t>3. Select the trigger — Choose the ticket table and record event required by the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890" y="6390640"/>
            <a:ext cx="7467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900">
                <a:solidFill>
                  <a:srgbClr val="000000"/>
                </a:solidFill>
                <a:latin typeface="Roboto"/>
              </a:rPr>
              <a:t>requirement.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890" y="6593840"/>
            <a:ext cx="58496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00">
                <a:solidFill>
                  <a:srgbClr val="000000"/>
                </a:solidFill>
                <a:latin typeface="Roboto"/>
              </a:rPr>
              <a:t>4. Add logic — Use conditions, If/Else, Decision Table or another supported logic method based on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890" y="6758940"/>
            <a:ext cx="21996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complexity of your classification 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890" y="6962140"/>
            <a:ext cx="57378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5. Add the update action — Choose the appropriate record-update action and map the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890" y="7127240"/>
            <a:ext cx="14566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output to the target field.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890" y="7330440"/>
            <a:ext cx="57924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900">
                <a:solidFill>
                  <a:srgbClr val="000000"/>
                </a:solidFill>
                <a:latin typeface="Roboto"/>
              </a:rPr>
              <a:t>6. Check the flow — Review trigger conditions, field mappings, action inputs and exception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890" y="7533640"/>
            <a:ext cx="55676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00">
                <a:solidFill>
                  <a:srgbClr val="000000"/>
                </a:solidFill>
                <a:latin typeface="Roboto"/>
              </a:rPr>
              <a:t>7. Save / validate / test — Use the development/testing process of your instance. Do not 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890" y="7698740"/>
            <a:ext cx="3740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production automation without appropriate testing and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" y="7974330"/>
            <a:ext cx="9385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b="1" sz="1200">
                <a:solidFill>
                  <a:srgbClr val="000000"/>
                </a:solidFill>
                <a:latin typeface="Roboto"/>
              </a:rPr>
              <a:t>Model flow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10260" y="8204200"/>
          <a:ext cx="5939789" cy="55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58800"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12" b="1" sz="900">
                          <a:solidFill>
                            <a:srgbClr val="000000"/>
                          </a:solidFill>
                          <a:latin typeface="Roboto"/>
                        </a:rPr>
                        <a:t>Trigger Ticket</a:t>
                      </a:r>
                      <a:br/>
                      <a:r>
                        <a:rPr spc="124" b="1" sz="900">
                          <a:solidFill>
                            <a:srgbClr val="000000"/>
                          </a:solidFill>
                          <a:latin typeface="Roboto"/>
                        </a:rPr>
                        <a:t>Created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13" b="1" sz="900">
                          <a:solidFill>
                            <a:srgbClr val="000000"/>
                          </a:solidFill>
                          <a:latin typeface="Roboto"/>
                        </a:rPr>
                        <a:t>Read Ticket</a:t>
                      </a:r>
                      <a:br/>
                      <a:r>
                        <a:rPr spc="105" b="1" sz="900">
                          <a:solidFill>
                            <a:srgbClr val="000000"/>
                          </a:solidFill>
                          <a:latin typeface="Roboto"/>
                        </a:rPr>
                        <a:t>Fields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90" b="1" sz="900">
                          <a:solidFill>
                            <a:srgbClr val="000000"/>
                          </a:solidFill>
                          <a:latin typeface="Roboto"/>
                        </a:rPr>
                        <a:t>Decision /</a:t>
                      </a:r>
                      <a:br/>
                      <a:r>
                        <a:rPr spc="109" b="1" sz="900">
                          <a:solidFill>
                            <a:srgbClr val="000000"/>
                          </a:solidFill>
                          <a:latin typeface="Roboto"/>
                        </a:rPr>
                        <a:t>Conditions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27" b="1" sz="900">
                          <a:solidFill>
                            <a:srgbClr val="000000"/>
                          </a:solidFill>
                          <a:latin typeface="Roboto"/>
                        </a:rPr>
                        <a:t>Set</a:t>
                      </a:r>
                      <a:br/>
                      <a:r>
                        <a:rPr spc="95" b="1" sz="90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102" b="1" sz="900">
                          <a:solidFill>
                            <a:srgbClr val="000000"/>
                          </a:solidFill>
                          <a:latin typeface="Roboto"/>
                        </a:rPr>
                        <a:t>Optional: Route </a:t>
                      </a:r>
                      <a:r>
                        <a:rPr spc="91" b="1" sz="900">
                          <a:solidFill>
                            <a:srgbClr val="000000"/>
                          </a:solidFill>
                          <a:latin typeface="Roboto"/>
                        </a:rPr>
                        <a:t>/ Notify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7700" y="10259060"/>
            <a:ext cx="284987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750">
                <a:solidFill>
                  <a:srgbClr val="000000"/>
                </a:solidFill>
                <a:latin typeface="Roboto"/>
              </a:rPr>
              <a:t>Auto Ticket Classification using Flow Designer – Milestone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6220" y="10259060"/>
            <a:ext cx="3263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75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370840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500">
                <a:solidFill>
                  <a:srgbClr val="000000"/>
                </a:solidFill>
                <a:latin typeface="Roboto"/>
              </a:rPr>
              <a:t>ACTION CHECKLIST – MILESTONE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6010"/>
            <a:ext cx="31140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50">
                <a:solidFill>
                  <a:srgbClr val="000000"/>
                </a:solidFill>
                <a:latin typeface="Roboto"/>
              </a:rPr>
              <a:t>Use this page as the practical completion checklist.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0260" y="1308100"/>
          <a:ext cx="5939789" cy="163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00"/>
                <a:gridCol w="4140200"/>
                <a:gridCol w="720089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Action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Task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Action 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53" sz="800">
                          <a:solidFill>
                            <a:srgbClr val="000000"/>
                          </a:solidFill>
                          <a:latin typeface="Roboto"/>
                        </a:rPr>
                        <a:t>Business Use Case documented; source, trigger, input, rules, output and</a:t>
                      </a:r>
                      <a:br/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fallback identified.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81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Action 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55" sz="800">
                          <a:solidFill>
                            <a:srgbClr val="000000"/>
                          </a:solidFill>
                          <a:latin typeface="Roboto"/>
                        </a:rPr>
                        <a:t>New Update Set created, named and saved; current Update Set process</a:t>
                      </a:r>
                      <a:br/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followed.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81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Action 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47" sz="800">
                          <a:solidFill>
                            <a:srgbClr val="000000"/>
                          </a:solidFill>
                          <a:latin typeface="Roboto"/>
                        </a:rPr>
                        <a:t>Flow Designer opened; flow navigation and planned trigger/logic/action</a:t>
                      </a:r>
                      <a:br/>
                      <a:r>
                        <a:rPr spc="55" sz="800">
                          <a:solidFill>
                            <a:srgbClr val="000000"/>
                          </a:solidFill>
                          <a:latin typeface="Roboto"/>
                        </a:rPr>
                        <a:t>documented.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81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Milestone 1</a:t>
                      </a:r>
                      <a:br/>
                      <a:r>
                        <a:rPr spc="59" sz="800">
                          <a:solidFill>
                            <a:srgbClr val="000000"/>
                          </a:solidFill>
                          <a:latin typeface="Roboto"/>
                        </a:rPr>
                        <a:t>review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55" sz="800">
                          <a:solidFill>
                            <a:srgbClr val="000000"/>
                          </a:solidFill>
                          <a:latin typeface="Roboto"/>
                        </a:rPr>
                        <a:t>Requirement and design reviewed before implementation.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81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3211830"/>
            <a:ext cx="203835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b="1" sz="1200">
                <a:solidFill>
                  <a:srgbClr val="000000"/>
                </a:solidFill>
                <a:latin typeface="Roboto"/>
              </a:rPr>
              <a:t>Next milestone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3470910"/>
            <a:ext cx="59524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50">
                <a:solidFill>
                  <a:srgbClr val="000000"/>
                </a:solidFill>
                <a:latin typeface="Roboto"/>
              </a:rPr>
              <a:t>Milestone 2 can cover the actual Flow Designer implementation: creating the flow, configuring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3648710"/>
            <a:ext cx="59690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50">
                <a:solidFill>
                  <a:srgbClr val="000000"/>
                </a:solidFill>
                <a:latin typeface="Roboto"/>
              </a:rPr>
              <a:t>trigger, adding classification logic, configuring actions, testing sample tickets, reviewing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826510"/>
            <a:ext cx="219710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50">
                <a:solidFill>
                  <a:srgbClr val="000000"/>
                </a:solidFill>
                <a:latin typeface="Roboto"/>
              </a:rPr>
              <a:t>details, and documenting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4189729"/>
            <a:ext cx="30772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800">
                <a:solidFill>
                  <a:srgbClr val="000000"/>
                </a:solidFill>
                <a:latin typeface="Roboto"/>
              </a:rPr>
              <a:t>Project name: Auto Ticket Classification using Flow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4329430"/>
            <a:ext cx="29870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800">
                <a:solidFill>
                  <a:srgbClr val="000000"/>
                </a:solidFill>
                <a:latin typeface="Roboto"/>
              </a:rPr>
              <a:t>Document: Milestone 1 – Requirement Analysis &amp;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4469130"/>
            <a:ext cx="248539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800">
                <a:solidFill>
                  <a:srgbClr val="000000"/>
                </a:solidFill>
                <a:latin typeface="Roboto"/>
              </a:rPr>
              <a:t>Prepared for: ServiceNow project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0259060"/>
            <a:ext cx="284987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750">
                <a:solidFill>
                  <a:srgbClr val="000000"/>
                </a:solidFill>
                <a:latin typeface="Roboto"/>
              </a:rPr>
              <a:t>Auto Ticket Classification using Flow Designer – Milestone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6220" y="10259060"/>
            <a:ext cx="3263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sz="75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